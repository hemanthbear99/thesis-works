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548640"/>
            <a:ext cx="32004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777240"/>
            <a:ext cx="2286000" cy="228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32720" y="1005840"/>
            <a:ext cx="1554480" cy="228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D4A02E"/>
                </a:solidFill>
                <a:latin typeface="Calibri"/>
              </a:defRPr>
            </a:pPr>
            <a:r>
              <a:t>MBA THESIS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600" b="1">
                <a:solidFill>
                  <a:srgbClr val="FFFFFF"/>
                </a:solidFill>
                <a:latin typeface="Calibri Light"/>
              </a:defRPr>
            </a:pPr>
            <a:r>
              <a:t>Stochastic Earned Value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83280"/>
            <a:ext cx="2743200" cy="36576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A0A0A0"/>
                </a:solidFill>
                <a:latin typeface="Calibri"/>
              </a:defRPr>
            </a:pPr>
            <a:r>
              <a:t>Integrating Monte Carlo Simulation for Enhanced Probabilistic</a:t>
            </a:r>
          </a:p>
          <a:p>
            <a:pPr algn="l">
              <a:spcAft>
                <a:spcPts val="600"/>
              </a:spcAft>
              <a:defRPr sz="2000" b="0" i="0">
                <a:solidFill>
                  <a:srgbClr val="A0A0A0"/>
                </a:solidFill>
                <a:latin typeface="Calibri"/>
              </a:defRPr>
            </a:pPr>
            <a:r>
              <a:t>Cost and Schedule Forecasting in EPC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808080"/>
                </a:solidFill>
                <a:latin typeface="Calibri"/>
              </a:defRPr>
            </a:pPr>
            <a:r>
              <a:t>Praneeth   |   ESLSCA School of 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Presentation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332720" cy="82296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325880"/>
            <a:ext cx="548640" cy="5486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61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D1B2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276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Why EPC projects fail at cost forecasting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10332720" cy="82296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2331720"/>
            <a:ext cx="548640" cy="5486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67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D1B2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33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Stochastic EVM with Monte Carlo 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00400"/>
            <a:ext cx="10332720" cy="82296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337560"/>
            <a:ext cx="548640" cy="5486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73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D1B2A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639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Research design and simulation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10332720" cy="82296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343400"/>
            <a:ext cx="548640" cy="5486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79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D1B2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6451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Empirical results from 960,000 simulations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12080"/>
            <a:ext cx="10332720" cy="82296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" y="5349240"/>
            <a:ext cx="548640" cy="5486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D1B2A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509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Practical implications for the EPC industry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34640"/>
            <a:ext cx="1828800" cy="32004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000" b="1">
                <a:solidFill>
                  <a:srgbClr val="D4A02E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FFFFFF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Why the EPC industry needs better forecasting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The EPC Industry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2004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3200400" cy="5486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C03030"/>
                </a:solidFill>
                <a:latin typeface="Calibri Light"/>
              </a:defRPr>
            </a:pPr>
            <a: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5A5A6E"/>
                </a:solidFill>
                <a:latin typeface="Calibri"/>
              </a:defRPr>
            </a:pPr>
            <a:r>
              <a:t>of large EPC projects</a:t>
            </a:r>
            <a:br/>
            <a:r>
              <a:t>exceed budget by 25%+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2004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200400" cy="54864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E06C00"/>
                </a:solidFill>
                <a:latin typeface="Calibri Light"/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5A5A6E"/>
                </a:solidFill>
                <a:latin typeface="Calibri"/>
              </a:defRPr>
            </a:pPr>
            <a:r>
              <a:t>schedule delays are</a:t>
            </a:r>
            <a:br/>
            <a:r>
              <a:t>shockingly common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2004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188720"/>
            <a:ext cx="3200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2E75B6"/>
                </a:solidFill>
                <a:latin typeface="Calibri Light"/>
              </a:defRPr>
            </a:pPr>
            <a:r>
              <a:t>$942M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5A5A6E"/>
                </a:solidFill>
                <a:latin typeface="Calibri"/>
              </a:defRPr>
            </a:pPr>
            <a:r>
              <a:t>total portfolio value</a:t>
            </a:r>
            <a:br/>
            <a:r>
              <a:t>studied in this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Traditional EVM uses deterministic formulas producing a single-point cost estimate.</a:t>
            </a:r>
          </a:p>
          <a:p>
            <a:pPr algn="l">
              <a:spcAft>
                <a:spcPts val="600"/>
              </a:spcAft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It assumes past performance will linearly dictate the future.</a:t>
            </a:r>
          </a:p>
          <a:p>
            <a:pPr algn="l">
              <a:spcAft>
                <a:spcPts val="6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But EPC projects are volatile — subject to supply chain disruptions, labor shortages,</a:t>
            </a:r>
          </a:p>
          <a:p>
            <a:pPr algn="l">
              <a:spcAft>
                <a:spcPts val="600"/>
              </a:spcAft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commodity price spikes, and engineering rework. A single number creates a false sense of certainty.</a:t>
            </a:r>
          </a:p>
          <a:p>
            <a:pPr algn="l">
              <a:spcAft>
                <a:spcPts val="6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 i="1">
                <a:solidFill>
                  <a:srgbClr val="0D1B2A"/>
                </a:solidFill>
                <a:latin typeface="Calibri"/>
              </a:defRPr>
            </a:pPr>
            <a:r>
              <a:t>"Why do we keep getting it wrong, and how can we fix it?"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Deterministic EVM vs. Stochastic EVM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120640" cy="530352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5120640" cy="5486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C03030"/>
                </a:solidFill>
                <a:latin typeface="Calibri"/>
              </a:defRPr>
            </a:pPr>
            <a:r>
              <a:t>TRADITIONAL EVM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A1A2E"/>
                </a:solidFill>
                <a:latin typeface="Consolas"/>
              </a:defRPr>
            </a:pPr>
            <a:r>
              <a:t>EAC = BAC / CPI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560320"/>
            <a:ext cx="128016" cy="128016"/>
          </a:xfrm>
          <a:prstGeom prst="ellipse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Single-point estimate only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108960"/>
            <a:ext cx="128016" cy="128016"/>
          </a:xfrm>
          <a:prstGeom prst="ellipse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Assumes linear future performance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657600"/>
            <a:ext cx="128016" cy="128016"/>
          </a:xfrm>
          <a:prstGeom prst="ellipse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No risk quantification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06240"/>
            <a:ext cx="128016" cy="128016"/>
          </a:xfrm>
          <a:prstGeom prst="ellipse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No confidence intervals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754880"/>
            <a:ext cx="128016" cy="128016"/>
          </a:xfrm>
          <a:prstGeom prst="ellipse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"The project will cost $150M"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512064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097280"/>
            <a:ext cx="512064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2D7D46"/>
                </a:solidFill>
                <a:latin typeface="Calibri"/>
              </a:defRPr>
            </a:pPr>
            <a:r>
              <a:t>STOCHASTIC EVM (SEVM)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A1A2E"/>
                </a:solidFill>
                <a:latin typeface="Consolas"/>
              </a:defRPr>
            </a:pPr>
            <a:r>
              <a:t>Monte Carlo Simulation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2560320"/>
            <a:ext cx="128016" cy="128016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Probability distribution of outcomes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3108960"/>
            <a:ext cx="128016" cy="128016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Models uncertainty with distributions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0" y="3657600"/>
            <a:ext cx="128016" cy="128016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Risk-aware decision support</a:t>
            </a:r>
          </a:p>
        </p:txBody>
      </p:sp>
      <p:sp>
        <p:nvSpPr>
          <p:cNvPr id="30" name="Oval 29"/>
          <p:cNvSpPr/>
          <p:nvPr/>
        </p:nvSpPr>
        <p:spPr>
          <a:xfrm>
            <a:off x="6766560" y="4206240"/>
            <a:ext cx="128016" cy="128016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P10 / P50 / P90 confidence levels</a:t>
            </a:r>
          </a:p>
        </p:txBody>
      </p:sp>
      <p:sp>
        <p:nvSpPr>
          <p:cNvPr id="32" name="Oval 31"/>
          <p:cNvSpPr/>
          <p:nvPr/>
        </p:nvSpPr>
        <p:spPr>
          <a:xfrm>
            <a:off x="6766560" y="4754880"/>
            <a:ext cx="128016" cy="128016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"80% chance cost is $140M–$160M"</a:t>
            </a:r>
          </a:p>
        </p:txBody>
      </p:sp>
      <p:sp>
        <p:nvSpPr>
          <p:cNvPr id="34" name="Oval 33"/>
          <p:cNvSpPr/>
          <p:nvPr/>
        </p:nvSpPr>
        <p:spPr>
          <a:xfrm>
            <a:off x="5532120" y="3108960"/>
            <a:ext cx="1005840" cy="10058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329184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34640"/>
            <a:ext cx="1828800" cy="32004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000" b="1">
                <a:solidFill>
                  <a:srgbClr val="D4A02E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FFFFFF"/>
                </a:solidFill>
                <a:latin typeface="Calibri Light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Stochastic EVM with Monte Carlo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How SEVM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560320" cy="3291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1280160"/>
            <a:ext cx="640080" cy="64008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0D1B2A"/>
                </a:solidFill>
                <a:latin typeface="Calibri"/>
              </a:defRPr>
            </a:pPr>
            <a: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Historical EVM data</a:t>
            </a:r>
            <a:br/>
            <a:r>
              <a:t>(PV, EV, AC) over</a:t>
            </a:r>
            <a:br/>
            <a:r>
              <a:t>project lifecycle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468880"/>
            <a:ext cx="201168" cy="320040"/>
          </a:xfrm>
          <a:prstGeom prst="rightArrow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097280"/>
            <a:ext cx="2560320" cy="3291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1280160"/>
            <a:ext cx="640080" cy="64008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0D1B2A"/>
                </a:solidFill>
                <a:latin typeface="Calibri"/>
              </a:defRPr>
            </a:pPr>
            <a:r>
              <a:t>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Fit lognormal distribution</a:t>
            </a:r>
            <a:br/>
            <a:r>
              <a:t>to CPI &amp; normal</a:t>
            </a:r>
            <a:br/>
            <a:r>
              <a:t>distribution to SPI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80760" y="2468880"/>
            <a:ext cx="201168" cy="320040"/>
          </a:xfrm>
          <a:prstGeom prst="rightArrow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2560320" cy="3291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80" y="1280160"/>
            <a:ext cx="640080" cy="64008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0D1B2A"/>
                </a:solidFill>
                <a:latin typeface="Calibri"/>
              </a:defRPr>
            </a:pPr>
            <a:r>
              <a:t>SIMULATE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Run 10,000 Monte Carlo</a:t>
            </a:r>
            <a:br/>
            <a:r>
              <a:t>iterations sampling from</a:t>
            </a:r>
            <a:br/>
            <a:r>
              <a:t>fitted distributions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15400" y="2468880"/>
            <a:ext cx="201168" cy="320040"/>
          </a:xfrm>
          <a:prstGeom prst="rightArrow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97280"/>
            <a:ext cx="2560320" cy="3291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04120" y="1280160"/>
            <a:ext cx="640080" cy="64008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0D1B2A"/>
                </a:solidFill>
                <a:latin typeface="Calibri"/>
              </a:defRPr>
            </a:pPr>
            <a:r>
              <a:t>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5603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Generate probability</a:t>
            </a:r>
            <a:br/>
            <a:r>
              <a:t>distribution of EAC</a:t>
            </a:r>
            <a:br/>
            <a:r>
              <a:t>with confidence intervals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80"/>
            <a:ext cx="10881360" cy="18288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754880"/>
            <a:ext cx="45720" cy="18288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D4A02E"/>
                </a:solidFill>
                <a:latin typeface="Calibri"/>
              </a:defRPr>
            </a:pPr>
            <a:r>
              <a:t>WHY LOGNORMAL FOR CPI?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Cost variations in EPC projects are right-skewed: small overruns are common, but extreme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cost blowouts (the 'fat tail') are statistically possible. A lognormal distribution captures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this reality. Costs cannot go below zero, ruling out the symmetrical normal distribution.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34640"/>
            <a:ext cx="1828800" cy="32004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000" b="1">
                <a:solidFill>
                  <a:srgbClr val="D4A02E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FFFFFF"/>
                </a:solidFill>
                <a:latin typeface="Calibri Light"/>
              </a:defRPr>
            </a:pPr>
            <a: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Quantitative analysis with Monte Carlo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Research Design &amp;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256032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D4A02E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EPC 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051560"/>
            <a:ext cx="2560320" cy="13716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D4A02E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Industry Sectors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25603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D4A02E"/>
                </a:solidFill>
                <a:latin typeface="Calibri Light"/>
              </a:defRPr>
            </a:pPr>
            <a:r>
              <a:t>$942M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Total Portfolio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51560"/>
            <a:ext cx="2560320" cy="13716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D4A02E"/>
                </a:solidFill>
                <a:latin typeface="Calibri Light"/>
              </a:defRPr>
            </a:pPr>
            <a:r>
              <a:t>960K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MC Iterations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834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Sectors: Oil &amp; Gas, Power Generation, Water Treatment, Industrial, Renewable Energy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474720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3649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Budget range: $15M to $200M   |   Duration range: 12 to 42 months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005072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89534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11 of 12 projects experienced actual cost overruns (realistic dataset)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535424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256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Forecast points evaluated: 20%, 30%, 40%, 50%, 60%, 70%, 80%, 90% completion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065776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956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10,000 Monte Carlo iterations per forecast point for convergence stability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596128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486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Statistical validation: Wilcoxon signed-rank test (non-parametric, paired)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Project Portfolio 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960120"/>
          <a:ext cx="1078992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42906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 ($M)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($M)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Overrun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$51.2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$120.0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$143.4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+19.5%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$30.8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$85.0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$104.5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+22.9%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$62.0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$60.8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1.019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$223.1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$35.0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$35.8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+2.2%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$95.0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$122.4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$22.0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$24.2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+10.1%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$55.0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$59.8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$180.0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$199.1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+10.6%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34640"/>
            <a:ext cx="1828800" cy="32004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000" b="1">
                <a:solidFill>
                  <a:srgbClr val="D4A02E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FFFFFF"/>
                </a:solidFill>
                <a:latin typeface="Calibri Light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Empirical results from the SEVM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1: Forecast Accuracy Comparison</a:t>
            </a:r>
          </a:p>
        </p:txBody>
      </p:sp>
      <p:pic>
        <p:nvPicPr>
          <p:cNvPr id="6" name="Picture 5" descr="fig2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27" y="914400"/>
            <a:ext cx="771144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86400"/>
            <a:ext cx="11887200" cy="1280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486400"/>
            <a:ext cx="45720" cy="12801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0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SEVM (P50) achieves 3.66% MAPE vs. Deterministic Composite's 4.21% — a 0.55pp improvement.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SEVM consistently outperforms the composite deterministic formula across all project completion stages.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2: S-Curves with SEVM Probabilistic Forecast</a:t>
            </a:r>
          </a:p>
        </p:txBody>
      </p:sp>
      <p:pic>
        <p:nvPicPr>
          <p:cNvPr id="6" name="Picture 5" descr="fig3_scurve_se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45" y="914400"/>
            <a:ext cx="6609805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86400"/>
            <a:ext cx="11887200" cy="1280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486400"/>
            <a:ext cx="45720" cy="12801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0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SEVM provides a probabilistic confidence band (P10–P90) instead of a single-point forecast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The 80% confidence band captures the range of likely outcomes, enabling better contingency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3: Monte Carlo EAC Distribution (10,000 Iterations)</a:t>
            </a:r>
          </a:p>
        </p:txBody>
      </p:sp>
      <p:pic>
        <p:nvPicPr>
          <p:cNvPr id="6" name="Picture 5" descr="fig4_ea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47" y="914400"/>
            <a:ext cx="7010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86400"/>
            <a:ext cx="11887200" cy="1280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486400"/>
            <a:ext cx="45720" cy="12801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0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The right-skewed distribution shows extreme cost overruns are possible but unlikely — captured by SEVM.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Det. EAC ($102.5M) sits near P50, but misses the tail risk SEVM reveals up to P90 ($116.4M).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4: SEVM Calibration — Can We Trust the Ranges?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475488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4754880" cy="6400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7200" b="1">
                <a:solidFill>
                  <a:srgbClr val="2D7D46"/>
                </a:solidFill>
                <a:latin typeface="Calibri Light"/>
              </a:defRPr>
            </a:pPr>
            <a:r>
              <a:t>77.1%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0D1B2A"/>
                </a:solidFill>
                <a:latin typeface="Calibri"/>
              </a:defRPr>
            </a:pPr>
            <a:r>
              <a:t>80% Confidence Interval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5A5A6E"/>
                </a:solidFill>
                <a:latin typeface="Calibri"/>
              </a:defRPr>
            </a:pPr>
            <a:r>
              <a:t>Target: 80%  |  Achieved: 77.1%</a:t>
            </a:r>
          </a:p>
          <a:p>
            <a:pPr algn="ctr">
              <a:spcAft>
                <a:spcPts val="600"/>
              </a:spcAft>
              <a:defRPr sz="600" b="0" i="0">
                <a:solidFill>
                  <a:srgbClr val="1A1A2E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200" b="0" i="0">
                <a:solidFill>
                  <a:srgbClr val="5A5A6E"/>
                </a:solidFill>
                <a:latin typeface="Calibri"/>
              </a:defRPr>
            </a:pPr>
            <a:r>
              <a:t>The actual project cost fell within the SEVM</a:t>
            </a:r>
          </a:p>
          <a:p>
            <a:pPr algn="ctr">
              <a:spcAft>
                <a:spcPts val="600"/>
              </a:spcAft>
              <a:defRPr sz="1200" b="0" i="0">
                <a:solidFill>
                  <a:srgbClr val="5A5A6E"/>
                </a:solidFill>
                <a:latin typeface="Calibri"/>
              </a:defRPr>
            </a:pPr>
            <a:r>
              <a:t>80% confidence band 77.1% of the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47548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475488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7200" b="1">
                <a:solidFill>
                  <a:srgbClr val="2E75B6"/>
                </a:solidFill>
                <a:latin typeface="Calibri Light"/>
              </a:defRPr>
            </a:pPr>
            <a:r>
              <a:t>53.1%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0D1B2A"/>
                </a:solidFill>
                <a:latin typeface="Calibri"/>
              </a:defRPr>
            </a:pPr>
            <a:r>
              <a:t>50% Confidence Interval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5A5A6E"/>
                </a:solidFill>
                <a:latin typeface="Calibri"/>
              </a:defRPr>
            </a:pPr>
            <a:r>
              <a:t>Target: 50%  |  Achieved: 53.1%</a:t>
            </a:r>
          </a:p>
          <a:p>
            <a:pPr algn="ctr">
              <a:spcAft>
                <a:spcPts val="600"/>
              </a:spcAft>
              <a:defRPr sz="600" b="0" i="0">
                <a:solidFill>
                  <a:srgbClr val="1A1A2E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200" b="0" i="0">
                <a:solidFill>
                  <a:srgbClr val="5A5A6E"/>
                </a:solidFill>
                <a:latin typeface="Calibri"/>
              </a:defRPr>
            </a:pPr>
            <a:r>
              <a:t>The actual cost fell within the narrower</a:t>
            </a:r>
          </a:p>
          <a:p>
            <a:pPr algn="ctr">
              <a:spcAft>
                <a:spcPts val="600"/>
              </a:spcAft>
              <a:defRPr sz="1200" b="0" i="0">
                <a:solidFill>
                  <a:srgbClr val="5A5A6E"/>
                </a:solidFill>
                <a:latin typeface="Calibri"/>
              </a:defRPr>
            </a:pPr>
            <a:r>
              <a:t>P25–P75 band 53.1% of the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12080"/>
            <a:ext cx="10881360" cy="13716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212080"/>
            <a:ext cx="45720" cy="13716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4A02E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SEVM's confidence intervals are remarkably well-calibrated. When the model says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"80% chance the cost falls in this range," it is correct ~77% of the time.</a:t>
            </a:r>
          </a:p>
          <a:p>
            <a:pPr algn="l">
              <a:spcAft>
                <a:spcPts val="60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Decision-makers can trust these ranges for contingency planning.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5: SEVM Accuracy Advantage by Project Complexity</a:t>
            </a:r>
          </a:p>
        </p:txBody>
      </p:sp>
      <p:pic>
        <p:nvPicPr>
          <p:cNvPr id="6" name="Picture 5" descr="fig5_complexity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167" y="914400"/>
            <a:ext cx="630936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86400"/>
            <a:ext cx="11887200" cy="1280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486400"/>
            <a:ext cx="45720" cy="12801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0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SEVM's value scales with project complexity — high complexity projects show the widest advantage range.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For high-complexity projects (offshore, chemical plants), SEVM confidence intervals achieved 96% calibration.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6: Evidence of Stochastic Behavior in CPI</a:t>
            </a:r>
          </a:p>
        </p:txBody>
      </p:sp>
      <p:pic>
        <p:nvPicPr>
          <p:cNvPr id="6" name="Picture 5" descr="fig7_cpi_var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47" y="914400"/>
            <a:ext cx="7010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86400"/>
            <a:ext cx="11887200" cy="1280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486400"/>
            <a:ext cx="45720" cy="12801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0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Period-by-period CPI shows clear stochastic behavior — not the constant pattern traditional EVM assumes.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This volatile, non-linear CPI behavior is exactly why deterministic single-point forecasts are structurally flawed.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7: SEVM Accuracy Advantage by Project Phase</a:t>
            </a:r>
          </a:p>
        </p:txBody>
      </p:sp>
      <p:pic>
        <p:nvPicPr>
          <p:cNvPr id="6" name="Picture 5" descr="fig8_phas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47" y="914400"/>
            <a:ext cx="7010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86400"/>
            <a:ext cx="11887200" cy="1280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486400"/>
            <a:ext cx="45720" cy="12801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0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SEVM provides its maximum accuracy advantage vs. composite EVM at the 50% completion mark (+1.05pp).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The 'sweet spot': enough historical data to fit distributions, yet enough remaining uncertainty where SEVM excels.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Finding 8: Cumulative Distribution Function of SEVM Forecast</a:t>
            </a:r>
          </a:p>
        </p:txBody>
      </p:sp>
      <p:pic>
        <p:nvPicPr>
          <p:cNvPr id="6" name="Picture 5" descr="fig6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47" y="914400"/>
            <a:ext cx="7010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86400"/>
            <a:ext cx="11887200" cy="1280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486400"/>
            <a:ext cx="45720" cy="12801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0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The CDF lets managers read exact probabilities: "What is the chance of staying under $110M?"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A5A6E"/>
                </a:solidFill>
                <a:latin typeface="Calibri"/>
              </a:defRPr>
            </a:pPr>
            <a:r>
              <a:t>This transforms project reporting from a single number to actionable probability-based decision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Hypothesis Results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789920" cy="8686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8580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188720"/>
            <a:ext cx="1828800" cy="59436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2161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NOT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1430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SEVM improves cost accuracy by -1.0pp vs BAC/CPI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52704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However, SEVM outperforms the more complex Composite formula by +0.55pp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57400"/>
            <a:ext cx="10789920" cy="8686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057400"/>
            <a:ext cx="68580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194560"/>
            <a:ext cx="1828800" cy="5943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22199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1488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Schedule uncertainty linked to composite formula improvement of +0.5pp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63240"/>
            <a:ext cx="68580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200400"/>
            <a:ext cx="1828800" cy="5943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32278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1546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SEVM advantage scales with complexity (High &gt; Medium &gt; Low)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53872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High complexity projects: 96% calibration 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69080"/>
            <a:ext cx="10789920" cy="8686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68580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9768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4206240"/>
            <a:ext cx="1828800" cy="5943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2336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PARTIALLY</a:t>
            </a:r>
            <a:br/>
            <a:r>
              <a:t>SUPPORTED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1605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Maximum SEVM advantage at 50% completion 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54456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Early stages have insufficient data; late stages have low uncertainty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74920"/>
            <a:ext cx="10789920" cy="8686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74920"/>
            <a:ext cx="68580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30352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08760" y="5212080"/>
            <a:ext cx="1828800" cy="5943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08760" y="523951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1663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Calibration accuracy improves with more data 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080760"/>
            <a:ext cx="10789920" cy="5486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1081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4A02E"/>
                </a:solidFill>
                <a:latin typeface="Calibri"/>
              </a:defRPr>
            </a:pPr>
            <a:r>
              <a:t>STATISTICAL SIGNIFICANCE (Wilcoxon Signed-Rank Test)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309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Consolas"/>
              </a:defRPr>
            </a:pPr>
            <a:r>
              <a:t>SEVM vs BAC/CPI:  W=1073, p=0.000005 ***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309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Consolas"/>
              </a:defRPr>
            </a:pPr>
            <a:r>
              <a:t>SEVM vs Composite:  W=1915, p=0.131  (ns)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34640"/>
            <a:ext cx="1828800" cy="32004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000" b="1">
                <a:solidFill>
                  <a:srgbClr val="D4A02E"/>
                </a:solidFill>
                <a:latin typeface="Calibri Light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RECOMMENDATIONS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Practical implications for EPC organizations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91695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D1B2A"/>
                </a:solidFill>
                <a:latin typeface="Calibri"/>
              </a:defRPr>
            </a:pPr>
            <a:r>
              <a:t>Recommendations for EPC Organizations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0D1B2A"/>
                </a:solidFill>
                <a:latin typeface="Calibri"/>
              </a:defRPr>
            </a:pPr>
            <a:r>
              <a:t>COMPLEMENT, NOT REPLACE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Adopt SEVM as a layer on top of traditional EVM. Use EVM for baseline measurement, SEVM for risk-aware forecasting.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05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0D1B2A"/>
                </a:solidFill>
                <a:latin typeface="Calibri"/>
              </a:defRPr>
            </a:pPr>
            <a:r>
              <a:t>TARGET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68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Deploy Monte Carlo simulation on high-complexity, high-value projects where calibrated confidence intervals provide the most value.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821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0D1B2A"/>
                </a:solidFill>
                <a:latin typeface="Calibri"/>
              </a:defRPr>
            </a:pPr>
            <a:r>
              <a:t>INVEST IN DATA HYGIENE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20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SEVM requires at least 10 periods of high-quality, unmanipulated EVM data to fit reliable probability distributions.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336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0D1B2A"/>
                </a:solidFill>
                <a:latin typeface="Calibri"/>
              </a:defRPr>
            </a:pPr>
            <a:r>
              <a:t>COMMUNICATE IN RANGES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72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Train executives to ask 'What is our P50 likely cost and P90 contingency ceiling?' instead of 'What is the final cost?'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394960"/>
            <a:ext cx="502920" cy="50292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285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0D1B2A"/>
                </a:solidFill>
                <a:latin typeface="Calibri"/>
              </a:defRPr>
            </a:pPr>
            <a:r>
              <a:t>FOCUS AT MID-PROJECT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6235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If only one major risk assessment is possible, conduct it at the 50% completion mark where SEVM's advantage is greatest.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A0A0A0"/>
                </a:solidFill>
                <a:latin typeface="Calibri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640080"/>
            <a:ext cx="2286000" cy="32004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920240"/>
            <a:ext cx="155448" cy="155448"/>
          </a:xfrm>
          <a:prstGeom prst="ellipse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EPC projects are fundamentally stochastic — yet we manage them with deterministic tools.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743200"/>
            <a:ext cx="155448" cy="155448"/>
          </a:xfrm>
          <a:prstGeom prst="ellipse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SEVM with Monte Carlo simulation bridges the gap between cost control and risk management.</a:t>
            </a:r>
          </a:p>
        </p:txBody>
      </p:sp>
      <p:sp>
        <p:nvSpPr>
          <p:cNvPr id="8" name="Oval 7"/>
          <p:cNvSpPr/>
          <p:nvPr/>
        </p:nvSpPr>
        <p:spPr>
          <a:xfrm>
            <a:off x="1554480" y="3566160"/>
            <a:ext cx="155448" cy="155448"/>
          </a:xfrm>
          <a:prstGeom prst="ellipse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 80% CI calibration (77.1%) proves SEVM ranges are trustworthy for executive decisions.</a:t>
            </a:r>
          </a:p>
        </p:txBody>
      </p:sp>
      <p:sp>
        <p:nvSpPr>
          <p:cNvPr id="10" name="Oval 9"/>
          <p:cNvSpPr/>
          <p:nvPr/>
        </p:nvSpPr>
        <p:spPr>
          <a:xfrm>
            <a:off x="1554480" y="4389120"/>
            <a:ext cx="155448" cy="155448"/>
          </a:xfrm>
          <a:prstGeom prst="ellipse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297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SEVM provides maximum value for high-complexity projects at the critical mid-project phase.</a:t>
            </a:r>
          </a:p>
        </p:txBody>
      </p:sp>
      <p:sp>
        <p:nvSpPr>
          <p:cNvPr id="12" name="Oval 11"/>
          <p:cNvSpPr/>
          <p:nvPr/>
        </p:nvSpPr>
        <p:spPr>
          <a:xfrm>
            <a:off x="1554480" y="5212080"/>
            <a:ext cx="155448" cy="155448"/>
          </a:xfrm>
          <a:prstGeom prst="ellipse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120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Transitioning to probabilistic ranges enables evidence-based contingency planning.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731520"/>
            <a:ext cx="41148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960120"/>
            <a:ext cx="3200400" cy="2286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1188720"/>
            <a:ext cx="2468880" cy="228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474720"/>
            <a:ext cx="2286000" cy="32004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A0A0A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Praneeth   |   ESLSCA School of Business   |   MBA Thesis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