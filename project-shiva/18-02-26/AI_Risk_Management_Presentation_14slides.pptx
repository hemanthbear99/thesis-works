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D3A"/>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914400"/>
            <a:ext cx="10058400" cy="731520"/>
          </a:xfrm>
          <a:prstGeom prst="rect">
            <a:avLst/>
          </a:prstGeom>
          <a:noFill/>
        </p:spPr>
        <p:txBody>
          <a:bodyPr wrap="square">
            <a:spAutoFit/>
          </a:bodyPr>
          <a:lstStyle/>
          <a:p>
            <a:pPr algn="l">
              <a:lnSpc>
                <a:spcPts val="4079"/>
              </a:lnSpc>
              <a:defRPr sz="3400" b="1">
                <a:solidFill>
                  <a:srgbClr val="FFFFFF"/>
                </a:solidFill>
                <a:latin typeface="Calibri"/>
              </a:defRPr>
            </a:pPr>
            <a:r>
              <a:t>Enhancing Risk Management Effectiveness in</a:t>
            </a:r>
          </a:p>
        </p:txBody>
      </p:sp>
      <p:sp>
        <p:nvSpPr>
          <p:cNvPr id="4" name="TextBox 3"/>
          <p:cNvSpPr txBox="1"/>
          <p:nvPr/>
        </p:nvSpPr>
        <p:spPr>
          <a:xfrm>
            <a:off x="914400" y="1600200"/>
            <a:ext cx="10058400" cy="731520"/>
          </a:xfrm>
          <a:prstGeom prst="rect">
            <a:avLst/>
          </a:prstGeom>
          <a:noFill/>
        </p:spPr>
        <p:txBody>
          <a:bodyPr wrap="square">
            <a:spAutoFit/>
          </a:bodyPr>
          <a:lstStyle/>
          <a:p>
            <a:pPr algn="l">
              <a:lnSpc>
                <a:spcPts val="4079"/>
              </a:lnSpc>
              <a:defRPr sz="3400" b="1">
                <a:solidFill>
                  <a:srgbClr val="FFFFFF"/>
                </a:solidFill>
                <a:latin typeface="Calibri"/>
              </a:defRPr>
            </a:pPr>
            <a:r>
              <a:t>Hybrid Projects through AI-Driven</a:t>
            </a:r>
          </a:p>
        </p:txBody>
      </p:sp>
      <p:sp>
        <p:nvSpPr>
          <p:cNvPr id="5" name="TextBox 4"/>
          <p:cNvSpPr txBox="1"/>
          <p:nvPr/>
        </p:nvSpPr>
        <p:spPr>
          <a:xfrm>
            <a:off x="914400" y="2286000"/>
            <a:ext cx="10058400" cy="731520"/>
          </a:xfrm>
          <a:prstGeom prst="rect">
            <a:avLst/>
          </a:prstGeom>
          <a:noFill/>
        </p:spPr>
        <p:txBody>
          <a:bodyPr wrap="square">
            <a:spAutoFit/>
          </a:bodyPr>
          <a:lstStyle/>
          <a:p>
            <a:pPr algn="l">
              <a:lnSpc>
                <a:spcPts val="4079"/>
              </a:lnSpc>
              <a:defRPr sz="3400" b="1">
                <a:solidFill>
                  <a:srgbClr val="E8A838"/>
                </a:solidFill>
                <a:latin typeface="Calibri"/>
              </a:defRPr>
            </a:pPr>
            <a:r>
              <a:t>Strategic Governance</a:t>
            </a:r>
          </a:p>
        </p:txBody>
      </p:sp>
      <p:sp>
        <p:nvSpPr>
          <p:cNvPr id="6" name="TextBox 5"/>
          <p:cNvSpPr txBox="1"/>
          <p:nvPr/>
        </p:nvSpPr>
        <p:spPr>
          <a:xfrm>
            <a:off x="914400" y="3291840"/>
            <a:ext cx="7315200" cy="457200"/>
          </a:xfrm>
          <a:prstGeom prst="rect">
            <a:avLst/>
          </a:prstGeom>
          <a:noFill/>
        </p:spPr>
        <p:txBody>
          <a:bodyPr wrap="square">
            <a:spAutoFit/>
          </a:bodyPr>
          <a:lstStyle/>
          <a:p>
            <a:pPr algn="l">
              <a:lnSpc>
                <a:spcPts val="2160"/>
              </a:lnSpc>
              <a:defRPr sz="1800" b="0">
                <a:solidFill>
                  <a:srgbClr val="5BA0D9"/>
                </a:solidFill>
                <a:latin typeface="Calibri"/>
              </a:defRPr>
            </a:pPr>
            <a:r>
              <a:t>A Structural Equation Modelling Study</a:t>
            </a:r>
          </a:p>
        </p:txBody>
      </p:sp>
      <p:sp>
        <p:nvSpPr>
          <p:cNvPr id="7" name="Rectangle 6"/>
          <p:cNvSpPr/>
          <p:nvPr/>
        </p:nvSpPr>
        <p:spPr>
          <a:xfrm>
            <a:off x="914400" y="3931920"/>
            <a:ext cx="3657600" cy="2743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4206240"/>
            <a:ext cx="7315200" cy="320040"/>
          </a:xfrm>
          <a:prstGeom prst="rect">
            <a:avLst/>
          </a:prstGeom>
          <a:noFill/>
        </p:spPr>
        <p:txBody>
          <a:bodyPr wrap="square">
            <a:spAutoFit/>
          </a:bodyPr>
          <a:lstStyle/>
          <a:p>
            <a:pPr algn="l">
              <a:lnSpc>
                <a:spcPts val="1560"/>
              </a:lnSpc>
              <a:defRPr sz="1300" b="0">
                <a:solidFill>
                  <a:srgbClr val="99AABB"/>
                </a:solidFill>
                <a:latin typeface="Calibri"/>
              </a:defRPr>
            </a:pPr>
            <a:r>
              <a:t>Based on primary data from 384 project professionals</a:t>
            </a:r>
          </a:p>
        </p:txBody>
      </p:sp>
      <p:sp>
        <p:nvSpPr>
          <p:cNvPr id="9" name="TextBox 8"/>
          <p:cNvSpPr txBox="1"/>
          <p:nvPr/>
        </p:nvSpPr>
        <p:spPr>
          <a:xfrm>
            <a:off x="914400" y="4526280"/>
            <a:ext cx="7315200" cy="320040"/>
          </a:xfrm>
          <a:prstGeom prst="rect">
            <a:avLst/>
          </a:prstGeom>
          <a:noFill/>
        </p:spPr>
        <p:txBody>
          <a:bodyPr wrap="square">
            <a:spAutoFit/>
          </a:bodyPr>
          <a:lstStyle/>
          <a:p>
            <a:pPr algn="l">
              <a:lnSpc>
                <a:spcPts val="1560"/>
              </a:lnSpc>
              <a:defRPr sz="1300" b="0">
                <a:solidFill>
                  <a:srgbClr val="99AABB"/>
                </a:solidFill>
                <a:latin typeface="Calibri"/>
              </a:defRPr>
            </a:pPr>
            <a:r>
              <a:t>Analysis: Structural Equation Modelling (SEM) | SPSS &amp; AMOS</a:t>
            </a:r>
          </a:p>
        </p:txBody>
      </p:sp>
      <p:sp>
        <p:nvSpPr>
          <p:cNvPr id="10" name="Rectangle 9"/>
          <p:cNvSpPr/>
          <p:nvPr/>
        </p:nvSpPr>
        <p:spPr>
          <a:xfrm>
            <a:off x="0" y="6784848"/>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D3A"/>
        </a:solidFill>
        <a:effectLst/>
      </p:bgPr>
    </p:bg>
    <p:spTree>
      <p:nvGrpSpPr>
        <p:cNvPr id="1" name=""/>
        <p:cNvGrpSpPr/>
        <p:nvPr/>
      </p:nvGrpSpPr>
      <p:grpSpPr>
        <a:xfrm>
          <a:off x="0" y="0"/>
          <a:ext cx="0" cy="0"/>
          <a:chOff x="0" y="0"/>
          <a:chExt cx="0" cy="0"/>
        </a:xfrm>
      </p:grpSpPr>
      <p:sp>
        <p:nvSpPr>
          <p:cNvPr id="2" name="Rectangle 1"/>
          <p:cNvSpPr/>
          <p:nvPr/>
        </p:nvSpPr>
        <p:spPr>
          <a:xfrm>
            <a:off x="731520" y="640080"/>
            <a:ext cx="2286000" cy="5029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777240"/>
            <a:ext cx="9144000" cy="640080"/>
          </a:xfrm>
          <a:prstGeom prst="rect">
            <a:avLst/>
          </a:prstGeom>
          <a:noFill/>
        </p:spPr>
        <p:txBody>
          <a:bodyPr wrap="square">
            <a:spAutoFit/>
          </a:bodyPr>
          <a:lstStyle/>
          <a:p>
            <a:pPr algn="l">
              <a:lnSpc>
                <a:spcPts val="3600"/>
              </a:lnSpc>
              <a:defRPr sz="3000" b="1">
                <a:solidFill>
                  <a:srgbClr val="E8A838"/>
                </a:solidFill>
                <a:latin typeface="Calibri"/>
              </a:defRPr>
            </a:pPr>
            <a:r>
              <a:t>Introduction &amp; Research Context</a:t>
            </a:r>
          </a:p>
        </p:txBody>
      </p:sp>
      <p:sp>
        <p:nvSpPr>
          <p:cNvPr id="4" name="Rectangle 3"/>
          <p:cNvSpPr/>
          <p:nvPr/>
        </p:nvSpPr>
        <p:spPr>
          <a:xfrm>
            <a:off x="0" y="6784848"/>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47120" y="6446520"/>
            <a:ext cx="731520" cy="320040"/>
          </a:xfrm>
          <a:prstGeom prst="rect">
            <a:avLst/>
          </a:prstGeom>
          <a:noFill/>
        </p:spPr>
        <p:txBody>
          <a:bodyPr wrap="none">
            <a:spAutoFit/>
          </a:bodyPr>
          <a:lstStyle/>
          <a:p>
            <a:pPr algn="r">
              <a:defRPr sz="1000">
                <a:solidFill>
                  <a:srgbClr val="99AABB"/>
                </a:solidFill>
              </a:defRPr>
            </a:pPr>
            <a:r>
              <a:t>2/14</a:t>
            </a:r>
          </a:p>
        </p:txBody>
      </p:sp>
      <p:sp>
        <p:nvSpPr>
          <p:cNvPr id="6" name="Rounded Rectangle 5"/>
          <p:cNvSpPr/>
          <p:nvPr/>
        </p:nvSpPr>
        <p:spPr>
          <a:xfrm>
            <a:off x="731520" y="2011680"/>
            <a:ext cx="3383280" cy="4114800"/>
          </a:xfrm>
          <a:prstGeom prst="roundRect">
            <a:avLst/>
          </a:prstGeom>
          <a:solidFill>
            <a:srgbClr val="1B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194560"/>
            <a:ext cx="2926080" cy="457200"/>
          </a:xfrm>
          <a:prstGeom prst="rect">
            <a:avLst/>
          </a:prstGeom>
          <a:noFill/>
        </p:spPr>
        <p:txBody>
          <a:bodyPr wrap="square">
            <a:spAutoFit/>
          </a:bodyPr>
          <a:lstStyle/>
          <a:p>
            <a:pPr algn="ctr">
              <a:lnSpc>
                <a:spcPts val="1920"/>
              </a:lnSpc>
              <a:defRPr sz="1600" b="1">
                <a:solidFill>
                  <a:srgbClr val="E8A838"/>
                </a:solidFill>
                <a:latin typeface="Calibri"/>
              </a:defRPr>
            </a:pPr>
            <a:r>
              <a:t>The Problem</a:t>
            </a:r>
          </a:p>
        </p:txBody>
      </p:sp>
      <p:sp>
        <p:nvSpPr>
          <p:cNvPr id="8" name="Rectangle 7"/>
          <p:cNvSpPr/>
          <p:nvPr/>
        </p:nvSpPr>
        <p:spPr>
          <a:xfrm>
            <a:off x="1188720" y="2834640"/>
            <a:ext cx="2468880" cy="1828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3017520"/>
            <a:ext cx="2926080" cy="2926080"/>
          </a:xfrm>
          <a:prstGeom prst="rect">
            <a:avLst/>
          </a:prstGeom>
          <a:noFill/>
        </p:spPr>
        <p:txBody>
          <a:bodyPr wrap="square">
            <a:spAutoFit/>
          </a:bodyPr>
          <a:lstStyle/>
          <a:p>
            <a:pPr algn="l">
              <a:lnSpc>
                <a:spcPts val="1679"/>
              </a:lnSpc>
              <a:defRPr sz="1200" b="0">
                <a:solidFill>
                  <a:srgbClr val="CCDDEE"/>
                </a:solidFill>
                <a:latin typeface="Calibri"/>
              </a:defRPr>
            </a:pPr>
            <a:r>
              <a:t>Traditional risk management relies on static registers, periodic assessments, and subjective expert judgment — insufficient for today's complex, data-intensive projects.</a:t>
            </a:r>
          </a:p>
        </p:txBody>
      </p:sp>
      <p:sp>
        <p:nvSpPr>
          <p:cNvPr id="10" name="Rounded Rectangle 9"/>
          <p:cNvSpPr/>
          <p:nvPr/>
        </p:nvSpPr>
        <p:spPr>
          <a:xfrm>
            <a:off x="4389120" y="2011680"/>
            <a:ext cx="3383280" cy="4114800"/>
          </a:xfrm>
          <a:prstGeom prst="roundRect">
            <a:avLst/>
          </a:prstGeom>
          <a:solidFill>
            <a:srgbClr val="132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17720" y="2194560"/>
            <a:ext cx="2926080" cy="457200"/>
          </a:xfrm>
          <a:prstGeom prst="rect">
            <a:avLst/>
          </a:prstGeom>
          <a:noFill/>
        </p:spPr>
        <p:txBody>
          <a:bodyPr wrap="square">
            <a:spAutoFit/>
          </a:bodyPr>
          <a:lstStyle/>
          <a:p>
            <a:pPr algn="ctr">
              <a:lnSpc>
                <a:spcPts val="1920"/>
              </a:lnSpc>
              <a:defRPr sz="1600" b="1">
                <a:solidFill>
                  <a:srgbClr val="E8A838"/>
                </a:solidFill>
                <a:latin typeface="Calibri"/>
              </a:defRPr>
            </a:pPr>
            <a:r>
              <a:t>Hybrid Complexity</a:t>
            </a:r>
          </a:p>
        </p:txBody>
      </p:sp>
      <p:sp>
        <p:nvSpPr>
          <p:cNvPr id="12" name="Rectangle 11"/>
          <p:cNvSpPr/>
          <p:nvPr/>
        </p:nvSpPr>
        <p:spPr>
          <a:xfrm>
            <a:off x="4846320" y="2834640"/>
            <a:ext cx="2468880" cy="1828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17720" y="3017520"/>
            <a:ext cx="2926080" cy="2926080"/>
          </a:xfrm>
          <a:prstGeom prst="rect">
            <a:avLst/>
          </a:prstGeom>
          <a:noFill/>
        </p:spPr>
        <p:txBody>
          <a:bodyPr wrap="square">
            <a:spAutoFit/>
          </a:bodyPr>
          <a:lstStyle/>
          <a:p>
            <a:pPr algn="l">
              <a:lnSpc>
                <a:spcPts val="1679"/>
              </a:lnSpc>
              <a:defRPr sz="1200" b="0">
                <a:solidFill>
                  <a:srgbClr val="CCDDEE"/>
                </a:solidFill>
                <a:latin typeface="Calibri"/>
              </a:defRPr>
            </a:pPr>
            <a:r>
              <a:t>Agile + Waterfall coexistence creates fragmented governance, inconsistent risk documentation, and ambiguous escalation authority.</a:t>
            </a:r>
          </a:p>
        </p:txBody>
      </p:sp>
      <p:sp>
        <p:nvSpPr>
          <p:cNvPr id="14" name="Rounded Rectangle 13"/>
          <p:cNvSpPr/>
          <p:nvPr/>
        </p:nvSpPr>
        <p:spPr>
          <a:xfrm>
            <a:off x="8046720" y="2011680"/>
            <a:ext cx="3383280" cy="4114800"/>
          </a:xfrm>
          <a:prstGeom prst="roundRect">
            <a:avLst/>
          </a:prstGeom>
          <a:solidFill>
            <a:srgbClr val="16A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75320" y="2194560"/>
            <a:ext cx="2926080" cy="457200"/>
          </a:xfrm>
          <a:prstGeom prst="rect">
            <a:avLst/>
          </a:prstGeom>
          <a:noFill/>
        </p:spPr>
        <p:txBody>
          <a:bodyPr wrap="square">
            <a:spAutoFit/>
          </a:bodyPr>
          <a:lstStyle/>
          <a:p>
            <a:pPr algn="ctr">
              <a:lnSpc>
                <a:spcPts val="1920"/>
              </a:lnSpc>
              <a:defRPr sz="1600" b="1">
                <a:solidFill>
                  <a:srgbClr val="E8A838"/>
                </a:solidFill>
                <a:latin typeface="Calibri"/>
              </a:defRPr>
            </a:pPr>
            <a:r>
              <a:t>The AI Opportunity</a:t>
            </a:r>
          </a:p>
        </p:txBody>
      </p:sp>
      <p:sp>
        <p:nvSpPr>
          <p:cNvPr id="16" name="Rectangle 15"/>
          <p:cNvSpPr/>
          <p:nvPr/>
        </p:nvSpPr>
        <p:spPr>
          <a:xfrm>
            <a:off x="8503920" y="2834640"/>
            <a:ext cx="2468880" cy="1828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75320" y="3017520"/>
            <a:ext cx="2926080" cy="2926080"/>
          </a:xfrm>
          <a:prstGeom prst="rect">
            <a:avLst/>
          </a:prstGeom>
          <a:noFill/>
        </p:spPr>
        <p:txBody>
          <a:bodyPr wrap="square">
            <a:spAutoFit/>
          </a:bodyPr>
          <a:lstStyle/>
          <a:p>
            <a:pPr algn="l">
              <a:lnSpc>
                <a:spcPts val="1679"/>
              </a:lnSpc>
              <a:defRPr sz="1200" b="0">
                <a:solidFill>
                  <a:srgbClr val="CCDDEE"/>
                </a:solidFill>
                <a:latin typeface="Calibri"/>
              </a:defRPr>
            </a:pPr>
            <a:r>
              <a:t>AI enables predictive analytics, real-time monitoring, continuous learning, and data-driven decision support for risk governance.</a:t>
            </a:r>
          </a:p>
        </p:txBody>
      </p:sp>
      <p:sp>
        <p:nvSpPr>
          <p:cNvPr id="18" name="Rounded Rectangle 17"/>
          <p:cNvSpPr/>
          <p:nvPr/>
        </p:nvSpPr>
        <p:spPr>
          <a:xfrm>
            <a:off x="731520" y="6263640"/>
            <a:ext cx="10698480" cy="411480"/>
          </a:xfrm>
          <a:prstGeom prst="roundRect">
            <a:avLst/>
          </a:prstGeom>
          <a:solidFill>
            <a:srgbClr val="132E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E8A838"/>
                </a:solidFill>
                <a:latin typeface="Calibri"/>
              </a:defRPr>
            </a:pPr>
            <a:r>
              <a:t>Research Gap: No integrated SEM model testing AI capability alongside governance mechanisms in hybrid project risk management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D3A"/>
        </a:solidFill>
        <a:effectLst/>
      </p:bgPr>
    </p:bg>
    <p:spTree>
      <p:nvGrpSpPr>
        <p:cNvPr id="1" name=""/>
        <p:cNvGrpSpPr/>
        <p:nvPr/>
      </p:nvGrpSpPr>
      <p:grpSpPr>
        <a:xfrm>
          <a:off x="0" y="0"/>
          <a:ext cx="0" cy="0"/>
          <a:chOff x="0" y="0"/>
          <a:chExt cx="0" cy="0"/>
        </a:xfrm>
      </p:grpSpPr>
      <p:sp>
        <p:nvSpPr>
          <p:cNvPr id="2" name="Rectangle 1"/>
          <p:cNvSpPr/>
          <p:nvPr/>
        </p:nvSpPr>
        <p:spPr>
          <a:xfrm>
            <a:off x="731520" y="640080"/>
            <a:ext cx="2286000" cy="5029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777240"/>
            <a:ext cx="9144000" cy="640080"/>
          </a:xfrm>
          <a:prstGeom prst="rect">
            <a:avLst/>
          </a:prstGeom>
          <a:noFill/>
        </p:spPr>
        <p:txBody>
          <a:bodyPr wrap="square">
            <a:spAutoFit/>
          </a:bodyPr>
          <a:lstStyle/>
          <a:p>
            <a:pPr algn="l">
              <a:lnSpc>
                <a:spcPts val="3600"/>
              </a:lnSpc>
              <a:defRPr sz="3000" b="1">
                <a:solidFill>
                  <a:srgbClr val="E8A838"/>
                </a:solidFill>
                <a:latin typeface="Calibri"/>
              </a:defRPr>
            </a:pPr>
            <a:r>
              <a:t>Research Objectives &amp; Hypotheses</a:t>
            </a:r>
          </a:p>
        </p:txBody>
      </p:sp>
      <p:sp>
        <p:nvSpPr>
          <p:cNvPr id="4" name="Rectangle 3"/>
          <p:cNvSpPr/>
          <p:nvPr/>
        </p:nvSpPr>
        <p:spPr>
          <a:xfrm>
            <a:off x="0" y="6784848"/>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47120" y="6446520"/>
            <a:ext cx="731520" cy="320040"/>
          </a:xfrm>
          <a:prstGeom prst="rect">
            <a:avLst/>
          </a:prstGeom>
          <a:noFill/>
        </p:spPr>
        <p:txBody>
          <a:bodyPr wrap="none">
            <a:spAutoFit/>
          </a:bodyPr>
          <a:lstStyle/>
          <a:p>
            <a:pPr algn="r">
              <a:defRPr sz="1000">
                <a:solidFill>
                  <a:srgbClr val="99AABB"/>
                </a:solidFill>
              </a:defRPr>
            </a:pPr>
            <a:r>
              <a:t>3/14</a:t>
            </a:r>
          </a:p>
        </p:txBody>
      </p:sp>
      <p:sp>
        <p:nvSpPr>
          <p:cNvPr id="6" name="Rounded Rectangle 5"/>
          <p:cNvSpPr/>
          <p:nvPr/>
        </p:nvSpPr>
        <p:spPr>
          <a:xfrm>
            <a:off x="731520" y="2011680"/>
            <a:ext cx="640080" cy="640080"/>
          </a:xfrm>
          <a:prstGeom prst="roundRect">
            <a:avLst/>
          </a:prstGeom>
          <a:solidFill>
            <a:srgbClr val="1B4F8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Calibri"/>
              </a:defRPr>
            </a:pPr>
            <a:r>
              <a:t>H1</a:t>
            </a:r>
          </a:p>
        </p:txBody>
      </p:sp>
      <p:sp>
        <p:nvSpPr>
          <p:cNvPr id="7" name="TextBox 6"/>
          <p:cNvSpPr txBox="1"/>
          <p:nvPr/>
        </p:nvSpPr>
        <p:spPr>
          <a:xfrm>
            <a:off x="1554480" y="2148840"/>
            <a:ext cx="9144000" cy="457200"/>
          </a:xfrm>
          <a:prstGeom prst="rect">
            <a:avLst/>
          </a:prstGeom>
          <a:noFill/>
        </p:spPr>
        <p:txBody>
          <a:bodyPr wrap="square">
            <a:spAutoFit/>
          </a:bodyPr>
          <a:lstStyle/>
          <a:p>
            <a:pPr algn="l">
              <a:lnSpc>
                <a:spcPts val="1680"/>
              </a:lnSpc>
              <a:defRPr sz="1400" b="0">
                <a:solidFill>
                  <a:srgbClr val="FFFFFF"/>
                </a:solidFill>
                <a:latin typeface="Calibri"/>
              </a:defRPr>
            </a:pPr>
            <a:r>
              <a:t>Risk Process Alignment → Risk Management Effectiveness</a:t>
            </a:r>
          </a:p>
        </p:txBody>
      </p:sp>
      <p:sp>
        <p:nvSpPr>
          <p:cNvPr id="8" name="Rounded Rectangle 7"/>
          <p:cNvSpPr/>
          <p:nvPr/>
        </p:nvSpPr>
        <p:spPr>
          <a:xfrm>
            <a:off x="731520" y="2880360"/>
            <a:ext cx="640080" cy="640080"/>
          </a:xfrm>
          <a:prstGeom prst="roundRect">
            <a:avLst/>
          </a:prstGeom>
          <a:solidFill>
            <a:srgbClr val="3A7CB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Calibri"/>
              </a:defRPr>
            </a:pPr>
            <a:r>
              <a:t>H2</a:t>
            </a:r>
          </a:p>
        </p:txBody>
      </p:sp>
      <p:sp>
        <p:nvSpPr>
          <p:cNvPr id="9" name="TextBox 8"/>
          <p:cNvSpPr txBox="1"/>
          <p:nvPr/>
        </p:nvSpPr>
        <p:spPr>
          <a:xfrm>
            <a:off x="1554480" y="3017520"/>
            <a:ext cx="9144000" cy="457200"/>
          </a:xfrm>
          <a:prstGeom prst="rect">
            <a:avLst/>
          </a:prstGeom>
          <a:noFill/>
        </p:spPr>
        <p:txBody>
          <a:bodyPr wrap="square">
            <a:spAutoFit/>
          </a:bodyPr>
          <a:lstStyle/>
          <a:p>
            <a:pPr algn="l">
              <a:lnSpc>
                <a:spcPts val="1680"/>
              </a:lnSpc>
              <a:defRPr sz="1400" b="0">
                <a:solidFill>
                  <a:srgbClr val="FFFFFF"/>
                </a:solidFill>
                <a:latin typeface="Calibri"/>
              </a:defRPr>
            </a:pPr>
            <a:r>
              <a:t>Risk Visibility Integration → Risk Management Effectiveness</a:t>
            </a:r>
          </a:p>
        </p:txBody>
      </p:sp>
      <p:sp>
        <p:nvSpPr>
          <p:cNvPr id="10" name="Rounded Rectangle 9"/>
          <p:cNvSpPr/>
          <p:nvPr/>
        </p:nvSpPr>
        <p:spPr>
          <a:xfrm>
            <a:off x="731520" y="3749039"/>
            <a:ext cx="640080" cy="640080"/>
          </a:xfrm>
          <a:prstGeom prst="roundRect">
            <a:avLst/>
          </a:prstGeom>
          <a:solidFill>
            <a:srgbClr val="5BA0D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Calibri"/>
              </a:defRPr>
            </a:pPr>
            <a:r>
              <a:t>H3</a:t>
            </a:r>
          </a:p>
        </p:txBody>
      </p:sp>
      <p:sp>
        <p:nvSpPr>
          <p:cNvPr id="11" name="TextBox 10"/>
          <p:cNvSpPr txBox="1"/>
          <p:nvPr/>
        </p:nvSpPr>
        <p:spPr>
          <a:xfrm>
            <a:off x="1554480" y="3886200"/>
            <a:ext cx="9144000" cy="457200"/>
          </a:xfrm>
          <a:prstGeom prst="rect">
            <a:avLst/>
          </a:prstGeom>
          <a:noFill/>
        </p:spPr>
        <p:txBody>
          <a:bodyPr wrap="square">
            <a:spAutoFit/>
          </a:bodyPr>
          <a:lstStyle/>
          <a:p>
            <a:pPr algn="l">
              <a:lnSpc>
                <a:spcPts val="1680"/>
              </a:lnSpc>
              <a:defRPr sz="1400" b="0">
                <a:solidFill>
                  <a:srgbClr val="FFFFFF"/>
                </a:solidFill>
                <a:latin typeface="Calibri"/>
              </a:defRPr>
            </a:pPr>
            <a:r>
              <a:t>Timely Risk Escalation → Risk Management Effectiveness</a:t>
            </a:r>
          </a:p>
        </p:txBody>
      </p:sp>
      <p:sp>
        <p:nvSpPr>
          <p:cNvPr id="12" name="Rounded Rectangle 11"/>
          <p:cNvSpPr/>
          <p:nvPr/>
        </p:nvSpPr>
        <p:spPr>
          <a:xfrm>
            <a:off x="731520" y="4617720"/>
            <a:ext cx="640080" cy="640080"/>
          </a:xfrm>
          <a:prstGeom prst="roundRect">
            <a:avLst/>
          </a:prstGeom>
          <a:solidFill>
            <a:srgbClr val="1B4F8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Calibri"/>
              </a:defRPr>
            </a:pPr>
            <a:r>
              <a:t>H4</a:t>
            </a:r>
          </a:p>
        </p:txBody>
      </p:sp>
      <p:sp>
        <p:nvSpPr>
          <p:cNvPr id="13" name="TextBox 12"/>
          <p:cNvSpPr txBox="1"/>
          <p:nvPr/>
        </p:nvSpPr>
        <p:spPr>
          <a:xfrm>
            <a:off x="1554480" y="4754880"/>
            <a:ext cx="9144000" cy="457200"/>
          </a:xfrm>
          <a:prstGeom prst="rect">
            <a:avLst/>
          </a:prstGeom>
          <a:noFill/>
        </p:spPr>
        <p:txBody>
          <a:bodyPr wrap="square">
            <a:spAutoFit/>
          </a:bodyPr>
          <a:lstStyle/>
          <a:p>
            <a:pPr algn="l">
              <a:lnSpc>
                <a:spcPts val="1680"/>
              </a:lnSpc>
              <a:defRPr sz="1400" b="0">
                <a:solidFill>
                  <a:srgbClr val="FFFFFF"/>
                </a:solidFill>
                <a:latin typeface="Calibri"/>
              </a:defRPr>
            </a:pPr>
            <a:r>
              <a:t>Governance Consistency → Risk Management Effectiveness</a:t>
            </a:r>
          </a:p>
        </p:txBody>
      </p:sp>
      <p:sp>
        <p:nvSpPr>
          <p:cNvPr id="14" name="Rounded Rectangle 13"/>
          <p:cNvSpPr/>
          <p:nvPr/>
        </p:nvSpPr>
        <p:spPr>
          <a:xfrm>
            <a:off x="731520" y="5486400"/>
            <a:ext cx="640080" cy="640080"/>
          </a:xfrm>
          <a:prstGeom prst="roundRect">
            <a:avLst/>
          </a:prstGeom>
          <a:solidFill>
            <a:srgbClr val="16A08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Calibri"/>
              </a:defRPr>
            </a:pPr>
            <a:r>
              <a:t>H5</a:t>
            </a:r>
          </a:p>
        </p:txBody>
      </p:sp>
      <p:sp>
        <p:nvSpPr>
          <p:cNvPr id="15" name="TextBox 14"/>
          <p:cNvSpPr txBox="1"/>
          <p:nvPr/>
        </p:nvSpPr>
        <p:spPr>
          <a:xfrm>
            <a:off x="1554480" y="5623560"/>
            <a:ext cx="9144000" cy="457200"/>
          </a:xfrm>
          <a:prstGeom prst="rect">
            <a:avLst/>
          </a:prstGeom>
          <a:noFill/>
        </p:spPr>
        <p:txBody>
          <a:bodyPr wrap="square">
            <a:spAutoFit/>
          </a:bodyPr>
          <a:lstStyle/>
          <a:p>
            <a:pPr algn="l">
              <a:lnSpc>
                <a:spcPts val="1680"/>
              </a:lnSpc>
              <a:defRPr sz="1400" b="0">
                <a:solidFill>
                  <a:srgbClr val="FFFFFF"/>
                </a:solidFill>
                <a:latin typeface="Calibri"/>
              </a:defRPr>
            </a:pPr>
            <a:r>
              <a:t>AI-Driven Risk Analytics Capability → Risk Management Effectiveness</a:t>
            </a:r>
          </a:p>
        </p:txBody>
      </p:sp>
      <p:sp>
        <p:nvSpPr>
          <p:cNvPr id="16" name="TextBox 15"/>
          <p:cNvSpPr txBox="1"/>
          <p:nvPr/>
        </p:nvSpPr>
        <p:spPr>
          <a:xfrm>
            <a:off x="731520" y="6400800"/>
            <a:ext cx="10058400" cy="320040"/>
          </a:xfrm>
          <a:prstGeom prst="rect">
            <a:avLst/>
          </a:prstGeom>
          <a:noFill/>
        </p:spPr>
        <p:txBody>
          <a:bodyPr wrap="square">
            <a:spAutoFit/>
          </a:bodyPr>
          <a:lstStyle/>
          <a:p>
            <a:pPr algn="l">
              <a:lnSpc>
                <a:spcPts val="1320"/>
              </a:lnSpc>
              <a:defRPr sz="1100" b="0">
                <a:solidFill>
                  <a:srgbClr val="99AABB"/>
                </a:solidFill>
                <a:latin typeface="Calibri"/>
              </a:defRPr>
            </a:pPr>
            <a:r>
              <a:t>All hypotheses posit a significant positive impact on Risk Management Effectiveness in Hybrid Project Environments.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D3A"/>
        </a:solidFill>
        <a:effectLst/>
      </p:bgPr>
    </p:bg>
    <p:spTree>
      <p:nvGrpSpPr>
        <p:cNvPr id="1" name=""/>
        <p:cNvGrpSpPr/>
        <p:nvPr/>
      </p:nvGrpSpPr>
      <p:grpSpPr>
        <a:xfrm>
          <a:off x="0" y="0"/>
          <a:ext cx="0" cy="0"/>
          <a:chOff x="0" y="0"/>
          <a:chExt cx="0" cy="0"/>
        </a:xfrm>
      </p:grpSpPr>
      <p:sp>
        <p:nvSpPr>
          <p:cNvPr id="2" name="Rectangle 1"/>
          <p:cNvSpPr/>
          <p:nvPr/>
        </p:nvSpPr>
        <p:spPr>
          <a:xfrm>
            <a:off x="731520" y="640080"/>
            <a:ext cx="2286000" cy="5029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777240"/>
            <a:ext cx="9144000" cy="640080"/>
          </a:xfrm>
          <a:prstGeom prst="rect">
            <a:avLst/>
          </a:prstGeom>
          <a:noFill/>
        </p:spPr>
        <p:txBody>
          <a:bodyPr wrap="square">
            <a:spAutoFit/>
          </a:bodyPr>
          <a:lstStyle/>
          <a:p>
            <a:pPr algn="l">
              <a:lnSpc>
                <a:spcPts val="3600"/>
              </a:lnSpc>
              <a:defRPr sz="3000" b="1">
                <a:solidFill>
                  <a:srgbClr val="E8A838"/>
                </a:solidFill>
                <a:latin typeface="Calibri"/>
              </a:defRPr>
            </a:pPr>
            <a:r>
              <a:t>Conceptual Framework</a:t>
            </a:r>
          </a:p>
        </p:txBody>
      </p:sp>
      <p:sp>
        <p:nvSpPr>
          <p:cNvPr id="4" name="TextBox 3"/>
          <p:cNvSpPr txBox="1"/>
          <p:nvPr/>
        </p:nvSpPr>
        <p:spPr>
          <a:xfrm>
            <a:off x="731520" y="1325880"/>
            <a:ext cx="9144000" cy="365760"/>
          </a:xfrm>
          <a:prstGeom prst="rect">
            <a:avLst/>
          </a:prstGeom>
          <a:noFill/>
        </p:spPr>
        <p:txBody>
          <a:bodyPr wrap="square">
            <a:spAutoFit/>
          </a:bodyPr>
          <a:lstStyle/>
          <a:p>
            <a:pPr algn="l">
              <a:lnSpc>
                <a:spcPts val="1560"/>
              </a:lnSpc>
              <a:defRPr sz="1300" b="0">
                <a:solidFill>
                  <a:srgbClr val="99AABB"/>
                </a:solidFill>
                <a:latin typeface="Calibri"/>
              </a:defRPr>
            </a:pPr>
            <a:r>
              <a:t>Integrated Model of AI-Driven Strategic Risk Management</a:t>
            </a:r>
          </a:p>
        </p:txBody>
      </p:sp>
      <p:sp>
        <p:nvSpPr>
          <p:cNvPr id="5" name="Rectangle 4"/>
          <p:cNvSpPr/>
          <p:nvPr/>
        </p:nvSpPr>
        <p:spPr>
          <a:xfrm>
            <a:off x="0" y="6784848"/>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731520" cy="320040"/>
          </a:xfrm>
          <a:prstGeom prst="rect">
            <a:avLst/>
          </a:prstGeom>
          <a:noFill/>
        </p:spPr>
        <p:txBody>
          <a:bodyPr wrap="none">
            <a:spAutoFit/>
          </a:bodyPr>
          <a:lstStyle/>
          <a:p>
            <a:pPr algn="r">
              <a:defRPr sz="1000">
                <a:solidFill>
                  <a:srgbClr val="99AABB"/>
                </a:solidFill>
              </a:defRPr>
            </a:pPr>
            <a:r>
              <a:t>4/14</a:t>
            </a:r>
          </a:p>
        </p:txBody>
      </p:sp>
      <p:pic>
        <p:nvPicPr>
          <p:cNvPr id="7" name="Picture 6" descr="framework.png"/>
          <p:cNvPicPr>
            <a:picLocks noChangeAspect="1"/>
          </p:cNvPicPr>
          <p:nvPr/>
        </p:nvPicPr>
        <p:blipFill>
          <a:blip r:embed="rId2"/>
          <a:stretch>
            <a:fillRect/>
          </a:stretch>
        </p:blipFill>
        <p:spPr>
          <a:xfrm>
            <a:off x="1371600" y="1554480"/>
            <a:ext cx="9601200" cy="5029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D3A"/>
        </a:solidFill>
        <a:effectLst/>
      </p:bgPr>
    </p:bg>
    <p:spTree>
      <p:nvGrpSpPr>
        <p:cNvPr id="1" name=""/>
        <p:cNvGrpSpPr/>
        <p:nvPr/>
      </p:nvGrpSpPr>
      <p:grpSpPr>
        <a:xfrm>
          <a:off x="0" y="0"/>
          <a:ext cx="0" cy="0"/>
          <a:chOff x="0" y="0"/>
          <a:chExt cx="0" cy="0"/>
        </a:xfrm>
      </p:grpSpPr>
      <p:sp>
        <p:nvSpPr>
          <p:cNvPr id="2" name="Rectangle 1"/>
          <p:cNvSpPr/>
          <p:nvPr/>
        </p:nvSpPr>
        <p:spPr>
          <a:xfrm>
            <a:off x="731520" y="640080"/>
            <a:ext cx="2286000" cy="5029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777240"/>
            <a:ext cx="9144000" cy="640080"/>
          </a:xfrm>
          <a:prstGeom prst="rect">
            <a:avLst/>
          </a:prstGeom>
          <a:noFill/>
        </p:spPr>
        <p:txBody>
          <a:bodyPr wrap="square">
            <a:spAutoFit/>
          </a:bodyPr>
          <a:lstStyle/>
          <a:p>
            <a:pPr algn="l">
              <a:lnSpc>
                <a:spcPts val="3600"/>
              </a:lnSpc>
              <a:defRPr sz="3000" b="1">
                <a:solidFill>
                  <a:srgbClr val="E8A838"/>
                </a:solidFill>
                <a:latin typeface="Calibri"/>
              </a:defRPr>
            </a:pPr>
            <a:r>
              <a:t>Research Methodology</a:t>
            </a:r>
          </a:p>
        </p:txBody>
      </p:sp>
      <p:sp>
        <p:nvSpPr>
          <p:cNvPr id="4" name="Rectangle 3"/>
          <p:cNvSpPr/>
          <p:nvPr/>
        </p:nvSpPr>
        <p:spPr>
          <a:xfrm>
            <a:off x="0" y="6784848"/>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47120" y="6446520"/>
            <a:ext cx="731520" cy="320040"/>
          </a:xfrm>
          <a:prstGeom prst="rect">
            <a:avLst/>
          </a:prstGeom>
          <a:noFill/>
        </p:spPr>
        <p:txBody>
          <a:bodyPr wrap="none">
            <a:spAutoFit/>
          </a:bodyPr>
          <a:lstStyle/>
          <a:p>
            <a:pPr algn="r">
              <a:defRPr sz="1000">
                <a:solidFill>
                  <a:srgbClr val="99AABB"/>
                </a:solidFill>
              </a:defRPr>
            </a:pPr>
            <a:r>
              <a:t>5/14</a:t>
            </a:r>
          </a:p>
        </p:txBody>
      </p:sp>
      <p:sp>
        <p:nvSpPr>
          <p:cNvPr id="6" name="Rounded Rectangle 5"/>
          <p:cNvSpPr/>
          <p:nvPr/>
        </p:nvSpPr>
        <p:spPr>
          <a:xfrm>
            <a:off x="548640" y="2011680"/>
            <a:ext cx="2651760" cy="2560320"/>
          </a:xfrm>
          <a:prstGeom prst="roundRect">
            <a:avLst/>
          </a:prstGeom>
          <a:solidFill>
            <a:srgbClr val="1B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148840"/>
            <a:ext cx="2286000" cy="457200"/>
          </a:xfrm>
          <a:prstGeom prst="rect">
            <a:avLst/>
          </a:prstGeom>
          <a:noFill/>
        </p:spPr>
        <p:txBody>
          <a:bodyPr wrap="square">
            <a:spAutoFit/>
          </a:bodyPr>
          <a:lstStyle/>
          <a:p>
            <a:pPr algn="ctr">
              <a:lnSpc>
                <a:spcPts val="1680"/>
              </a:lnSpc>
              <a:defRPr sz="1400" b="1">
                <a:solidFill>
                  <a:srgbClr val="E8A838"/>
                </a:solidFill>
                <a:latin typeface="Calibri"/>
              </a:defRPr>
            </a:pPr>
            <a:r>
              <a:t>Quantitative</a:t>
            </a:r>
            <a:br/>
            <a:r>
              <a:t>Research Design</a:t>
            </a:r>
          </a:p>
        </p:txBody>
      </p:sp>
      <p:sp>
        <p:nvSpPr>
          <p:cNvPr id="8" name="Rectangle 7"/>
          <p:cNvSpPr/>
          <p:nvPr/>
        </p:nvSpPr>
        <p:spPr>
          <a:xfrm>
            <a:off x="914400" y="2880360"/>
            <a:ext cx="1920240" cy="1828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3017520"/>
            <a:ext cx="2286000" cy="1097280"/>
          </a:xfrm>
          <a:prstGeom prst="rect">
            <a:avLst/>
          </a:prstGeom>
          <a:noFill/>
        </p:spPr>
        <p:txBody>
          <a:bodyPr wrap="square">
            <a:spAutoFit/>
          </a:bodyPr>
          <a:lstStyle/>
          <a:p>
            <a:pPr algn="ctr">
              <a:lnSpc>
                <a:spcPts val="1539"/>
              </a:lnSpc>
              <a:defRPr sz="1100" b="0">
                <a:solidFill>
                  <a:srgbClr val="CCDDEE"/>
                </a:solidFill>
                <a:latin typeface="Calibri"/>
              </a:defRPr>
            </a:pPr>
            <a:r>
              <a:t>Cross-sectional survey</a:t>
            </a:r>
            <a:br/>
            <a:r>
              <a:t>with 5-point Likert scale</a:t>
            </a:r>
          </a:p>
        </p:txBody>
      </p:sp>
      <p:sp>
        <p:nvSpPr>
          <p:cNvPr id="10" name="Rounded Rectangle 9"/>
          <p:cNvSpPr/>
          <p:nvPr/>
        </p:nvSpPr>
        <p:spPr>
          <a:xfrm>
            <a:off x="3429000" y="2011680"/>
            <a:ext cx="2651760" cy="2560320"/>
          </a:xfrm>
          <a:prstGeom prst="roundRect">
            <a:avLst/>
          </a:prstGeom>
          <a:solidFill>
            <a:srgbClr val="16A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11880" y="2148840"/>
            <a:ext cx="2286000" cy="457200"/>
          </a:xfrm>
          <a:prstGeom prst="rect">
            <a:avLst/>
          </a:prstGeom>
          <a:noFill/>
        </p:spPr>
        <p:txBody>
          <a:bodyPr wrap="square">
            <a:spAutoFit/>
          </a:bodyPr>
          <a:lstStyle/>
          <a:p>
            <a:pPr algn="ctr">
              <a:lnSpc>
                <a:spcPts val="1680"/>
              </a:lnSpc>
              <a:defRPr sz="1400" b="1">
                <a:solidFill>
                  <a:srgbClr val="E8A838"/>
                </a:solidFill>
                <a:latin typeface="Calibri"/>
              </a:defRPr>
            </a:pPr>
            <a:r>
              <a:t>384 Professionals</a:t>
            </a:r>
            <a:br/>
            <a:r>
              <a:t>Surveyed</a:t>
            </a:r>
          </a:p>
        </p:txBody>
      </p:sp>
      <p:sp>
        <p:nvSpPr>
          <p:cNvPr id="12" name="Rectangle 11"/>
          <p:cNvSpPr/>
          <p:nvPr/>
        </p:nvSpPr>
        <p:spPr>
          <a:xfrm>
            <a:off x="3794760" y="2880360"/>
            <a:ext cx="1920240" cy="1828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11880" y="3017520"/>
            <a:ext cx="2286000" cy="1097280"/>
          </a:xfrm>
          <a:prstGeom prst="rect">
            <a:avLst/>
          </a:prstGeom>
          <a:noFill/>
        </p:spPr>
        <p:txBody>
          <a:bodyPr wrap="square">
            <a:spAutoFit/>
          </a:bodyPr>
          <a:lstStyle/>
          <a:p>
            <a:pPr algn="ctr">
              <a:lnSpc>
                <a:spcPts val="1539"/>
              </a:lnSpc>
              <a:defRPr sz="1100" b="0">
                <a:solidFill>
                  <a:srgbClr val="CCDDEE"/>
                </a:solidFill>
                <a:latin typeface="Calibri"/>
              </a:defRPr>
            </a:pPr>
            <a:r>
              <a:t>Project managers, risk managers,</a:t>
            </a:r>
            <a:br/>
            <a:r>
              <a:t>PMO, analysts, scrum masters</a:t>
            </a:r>
          </a:p>
        </p:txBody>
      </p:sp>
      <p:sp>
        <p:nvSpPr>
          <p:cNvPr id="14" name="Rounded Rectangle 13"/>
          <p:cNvSpPr/>
          <p:nvPr/>
        </p:nvSpPr>
        <p:spPr>
          <a:xfrm>
            <a:off x="6309359" y="2011680"/>
            <a:ext cx="2651760" cy="2560320"/>
          </a:xfrm>
          <a:prstGeom prst="roundRect">
            <a:avLst/>
          </a:prstGeom>
          <a:solidFill>
            <a:srgbClr val="132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92240" y="2148840"/>
            <a:ext cx="2286000" cy="457200"/>
          </a:xfrm>
          <a:prstGeom prst="rect">
            <a:avLst/>
          </a:prstGeom>
          <a:noFill/>
        </p:spPr>
        <p:txBody>
          <a:bodyPr wrap="square">
            <a:spAutoFit/>
          </a:bodyPr>
          <a:lstStyle/>
          <a:p>
            <a:pPr algn="ctr">
              <a:lnSpc>
                <a:spcPts val="1680"/>
              </a:lnSpc>
              <a:defRPr sz="1400" b="1">
                <a:solidFill>
                  <a:srgbClr val="E8A838"/>
                </a:solidFill>
                <a:latin typeface="Calibri"/>
              </a:defRPr>
            </a:pPr>
            <a:r>
              <a:t>SPSS + AMOS</a:t>
            </a:r>
            <a:br/>
            <a:r>
              <a:t>Analysis Tools</a:t>
            </a:r>
          </a:p>
        </p:txBody>
      </p:sp>
      <p:sp>
        <p:nvSpPr>
          <p:cNvPr id="16" name="Rectangle 15"/>
          <p:cNvSpPr/>
          <p:nvPr/>
        </p:nvSpPr>
        <p:spPr>
          <a:xfrm>
            <a:off x="6675120" y="2880360"/>
            <a:ext cx="1920240" cy="1828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3017520"/>
            <a:ext cx="2286000" cy="1097280"/>
          </a:xfrm>
          <a:prstGeom prst="rect">
            <a:avLst/>
          </a:prstGeom>
          <a:noFill/>
        </p:spPr>
        <p:txBody>
          <a:bodyPr wrap="square">
            <a:spAutoFit/>
          </a:bodyPr>
          <a:lstStyle/>
          <a:p>
            <a:pPr algn="ctr">
              <a:lnSpc>
                <a:spcPts val="1539"/>
              </a:lnSpc>
              <a:defRPr sz="1100" b="0">
                <a:solidFill>
                  <a:srgbClr val="CCDDEE"/>
                </a:solidFill>
                <a:latin typeface="Calibri"/>
              </a:defRPr>
            </a:pPr>
            <a:r>
              <a:t>CFA for measurement model</a:t>
            </a:r>
            <a:br/>
            <a:r>
              <a:t>SEM for hypothesis testing</a:t>
            </a:r>
          </a:p>
        </p:txBody>
      </p:sp>
      <p:sp>
        <p:nvSpPr>
          <p:cNvPr id="18" name="Rounded Rectangle 17"/>
          <p:cNvSpPr/>
          <p:nvPr/>
        </p:nvSpPr>
        <p:spPr>
          <a:xfrm>
            <a:off x="9189719" y="2011680"/>
            <a:ext cx="2651760" cy="2560320"/>
          </a:xfrm>
          <a:prstGeom prst="roundRect">
            <a:avLst/>
          </a:prstGeom>
          <a:solidFill>
            <a:srgbClr val="1B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72599" y="2148840"/>
            <a:ext cx="2286000" cy="457200"/>
          </a:xfrm>
          <a:prstGeom prst="rect">
            <a:avLst/>
          </a:prstGeom>
          <a:noFill/>
        </p:spPr>
        <p:txBody>
          <a:bodyPr wrap="square">
            <a:spAutoFit/>
          </a:bodyPr>
          <a:lstStyle/>
          <a:p>
            <a:pPr algn="ctr">
              <a:lnSpc>
                <a:spcPts val="1680"/>
              </a:lnSpc>
              <a:defRPr sz="1400" b="1">
                <a:solidFill>
                  <a:srgbClr val="E8A838"/>
                </a:solidFill>
                <a:latin typeface="Calibri"/>
              </a:defRPr>
            </a:pPr>
            <a:r>
              <a:t>Rigorous</a:t>
            </a:r>
            <a:br/>
            <a:r>
              <a:t>Validation</a:t>
            </a:r>
          </a:p>
        </p:txBody>
      </p:sp>
      <p:sp>
        <p:nvSpPr>
          <p:cNvPr id="20" name="Rectangle 19"/>
          <p:cNvSpPr/>
          <p:nvPr/>
        </p:nvSpPr>
        <p:spPr>
          <a:xfrm>
            <a:off x="9555480" y="2880360"/>
            <a:ext cx="1920240" cy="1828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372599" y="3017520"/>
            <a:ext cx="2286000" cy="1097280"/>
          </a:xfrm>
          <a:prstGeom prst="rect">
            <a:avLst/>
          </a:prstGeom>
          <a:noFill/>
        </p:spPr>
        <p:txBody>
          <a:bodyPr wrap="square">
            <a:spAutoFit/>
          </a:bodyPr>
          <a:lstStyle/>
          <a:p>
            <a:pPr algn="ctr">
              <a:lnSpc>
                <a:spcPts val="1539"/>
              </a:lnSpc>
              <a:defRPr sz="1100" b="0">
                <a:solidFill>
                  <a:srgbClr val="CCDDEE"/>
                </a:solidFill>
                <a:latin typeface="Calibri"/>
              </a:defRPr>
            </a:pPr>
            <a:r>
              <a:t>KMO = 0.927 | All AVE &gt; 0.5</a:t>
            </a:r>
            <a:br/>
            <a:r>
              <a:t>All CR &gt; 0.7 | Fornell-Larcker</a:t>
            </a:r>
          </a:p>
        </p:txBody>
      </p:sp>
      <p:sp>
        <p:nvSpPr>
          <p:cNvPr id="22" name="TextBox 21"/>
          <p:cNvSpPr txBox="1"/>
          <p:nvPr/>
        </p:nvSpPr>
        <p:spPr>
          <a:xfrm>
            <a:off x="731520" y="4846320"/>
            <a:ext cx="10972800" cy="365760"/>
          </a:xfrm>
          <a:prstGeom prst="rect">
            <a:avLst/>
          </a:prstGeom>
          <a:noFill/>
        </p:spPr>
        <p:txBody>
          <a:bodyPr wrap="square">
            <a:spAutoFit/>
          </a:bodyPr>
          <a:lstStyle/>
          <a:p>
            <a:pPr algn="l">
              <a:lnSpc>
                <a:spcPts val="1800"/>
              </a:lnSpc>
              <a:defRPr sz="1500" b="1">
                <a:solidFill>
                  <a:srgbClr val="E8A838"/>
                </a:solidFill>
                <a:latin typeface="Calibri"/>
              </a:defRPr>
            </a:pPr>
            <a:r>
              <a:t>Statistical Techniques</a:t>
            </a:r>
          </a:p>
        </p:txBody>
      </p:sp>
      <p:sp>
        <p:nvSpPr>
          <p:cNvPr id="23" name="TextBox 22"/>
          <p:cNvSpPr txBox="1"/>
          <p:nvPr/>
        </p:nvSpPr>
        <p:spPr>
          <a:xfrm>
            <a:off x="731520" y="5303520"/>
            <a:ext cx="10058400" cy="1371600"/>
          </a:xfrm>
          <a:prstGeom prst="rect">
            <a:avLst/>
          </a:prstGeom>
          <a:noFill/>
        </p:spPr>
        <p:txBody>
          <a:bodyPr wrap="square">
            <a:spAutoFit/>
          </a:bodyPr>
          <a:lstStyle/>
          <a:p>
            <a:pPr algn="l">
              <a:lnSpc>
                <a:spcPts val="1620"/>
              </a:lnSpc>
              <a:spcAft>
                <a:spcPts val="300"/>
              </a:spcAft>
              <a:defRPr sz="1200" b="0">
                <a:solidFill>
                  <a:srgbClr val="CCDDEE"/>
                </a:solidFill>
                <a:latin typeface="Calibri"/>
              </a:defRPr>
            </a:pPr>
            <a:r>
              <a:t>•  Confirmatory Factor Analysis (CFA) for measurement model validation</a:t>
            </a:r>
          </a:p>
          <a:p>
            <a:pPr algn="l">
              <a:lnSpc>
                <a:spcPts val="1620"/>
              </a:lnSpc>
              <a:spcAft>
                <a:spcPts val="300"/>
              </a:spcAft>
              <a:defRPr sz="1200" b="0">
                <a:solidFill>
                  <a:srgbClr val="CCDDEE"/>
                </a:solidFill>
                <a:latin typeface="Calibri"/>
              </a:defRPr>
            </a:pPr>
            <a:r>
              <a:t>•  Structural Equation Modelling (SEM) for testing causal relationships</a:t>
            </a:r>
          </a:p>
          <a:p>
            <a:pPr algn="l">
              <a:lnSpc>
                <a:spcPts val="1620"/>
              </a:lnSpc>
              <a:spcAft>
                <a:spcPts val="300"/>
              </a:spcAft>
              <a:defRPr sz="1200" b="0">
                <a:solidFill>
                  <a:srgbClr val="CCDDEE"/>
                </a:solidFill>
                <a:latin typeface="Calibri"/>
              </a:defRPr>
            </a:pPr>
            <a:r>
              <a:t>•  Discriminant Validity via Fornell-Larcker Criterion | Cronbach's Alpha for reliability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D3A"/>
        </a:solidFill>
        <a:effectLst/>
      </p:bgPr>
    </p:bg>
    <p:spTree>
      <p:nvGrpSpPr>
        <p:cNvPr id="1" name=""/>
        <p:cNvGrpSpPr/>
        <p:nvPr/>
      </p:nvGrpSpPr>
      <p:grpSpPr>
        <a:xfrm>
          <a:off x="0" y="0"/>
          <a:ext cx="0" cy="0"/>
          <a:chOff x="0" y="0"/>
          <a:chExt cx="0" cy="0"/>
        </a:xfrm>
      </p:grpSpPr>
      <p:sp>
        <p:nvSpPr>
          <p:cNvPr id="2" name="Rectangle 1"/>
          <p:cNvSpPr/>
          <p:nvPr/>
        </p:nvSpPr>
        <p:spPr>
          <a:xfrm>
            <a:off x="731520" y="640080"/>
            <a:ext cx="2286000" cy="5029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777240"/>
            <a:ext cx="9144000" cy="640080"/>
          </a:xfrm>
          <a:prstGeom prst="rect">
            <a:avLst/>
          </a:prstGeom>
          <a:noFill/>
        </p:spPr>
        <p:txBody>
          <a:bodyPr wrap="square">
            <a:spAutoFit/>
          </a:bodyPr>
          <a:lstStyle/>
          <a:p>
            <a:pPr algn="l">
              <a:lnSpc>
                <a:spcPts val="3600"/>
              </a:lnSpc>
              <a:defRPr sz="3000" b="1">
                <a:solidFill>
                  <a:srgbClr val="E8A838"/>
                </a:solidFill>
                <a:latin typeface="Calibri"/>
              </a:defRPr>
            </a:pPr>
            <a:r>
              <a:t>Sample Demographics</a:t>
            </a:r>
          </a:p>
        </p:txBody>
      </p:sp>
      <p:sp>
        <p:nvSpPr>
          <p:cNvPr id="4" name="TextBox 3"/>
          <p:cNvSpPr txBox="1"/>
          <p:nvPr/>
        </p:nvSpPr>
        <p:spPr>
          <a:xfrm>
            <a:off x="731520" y="1325880"/>
            <a:ext cx="9144000" cy="365760"/>
          </a:xfrm>
          <a:prstGeom prst="rect">
            <a:avLst/>
          </a:prstGeom>
          <a:noFill/>
        </p:spPr>
        <p:txBody>
          <a:bodyPr wrap="square">
            <a:spAutoFit/>
          </a:bodyPr>
          <a:lstStyle/>
          <a:p>
            <a:pPr algn="l">
              <a:lnSpc>
                <a:spcPts val="1560"/>
              </a:lnSpc>
              <a:defRPr sz="1300" b="0">
                <a:solidFill>
                  <a:srgbClr val="99AABB"/>
                </a:solidFill>
                <a:latin typeface="Calibri"/>
              </a:defRPr>
            </a:pPr>
            <a:r>
              <a:t>N = 384 Project Professionals across Diverse Industries</a:t>
            </a:r>
          </a:p>
        </p:txBody>
      </p:sp>
      <p:sp>
        <p:nvSpPr>
          <p:cNvPr id="5" name="Rectangle 4"/>
          <p:cNvSpPr/>
          <p:nvPr/>
        </p:nvSpPr>
        <p:spPr>
          <a:xfrm>
            <a:off x="0" y="6784848"/>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731520" cy="320040"/>
          </a:xfrm>
          <a:prstGeom prst="rect">
            <a:avLst/>
          </a:prstGeom>
          <a:noFill/>
        </p:spPr>
        <p:txBody>
          <a:bodyPr wrap="none">
            <a:spAutoFit/>
          </a:bodyPr>
          <a:lstStyle/>
          <a:p>
            <a:pPr algn="r">
              <a:defRPr sz="1000">
                <a:solidFill>
                  <a:srgbClr val="99AABB"/>
                </a:solidFill>
              </a:defRPr>
            </a:pPr>
            <a:r>
              <a:t>6/14</a:t>
            </a:r>
          </a:p>
        </p:txBody>
      </p:sp>
      <p:pic>
        <p:nvPicPr>
          <p:cNvPr id="7" name="Picture 6" descr="demographics_combo.png"/>
          <p:cNvPicPr>
            <a:picLocks noChangeAspect="1"/>
          </p:cNvPicPr>
          <p:nvPr/>
        </p:nvPicPr>
        <p:blipFill>
          <a:blip r:embed="rId2"/>
          <a:stretch>
            <a:fillRect/>
          </a:stretch>
        </p:blipFill>
        <p:spPr>
          <a:xfrm>
            <a:off x="274320" y="1737360"/>
            <a:ext cx="7772400" cy="4754880"/>
          </a:xfrm>
          <a:prstGeom prst="rect">
            <a:avLst/>
          </a:prstGeom>
        </p:spPr>
      </p:pic>
      <p:sp>
        <p:nvSpPr>
          <p:cNvPr id="8" name="Rounded Rectangle 7"/>
          <p:cNvSpPr/>
          <p:nvPr/>
        </p:nvSpPr>
        <p:spPr>
          <a:xfrm>
            <a:off x="8503920" y="1920240"/>
            <a:ext cx="3291840" cy="960120"/>
          </a:xfrm>
          <a:prstGeom prst="roundRect">
            <a:avLst/>
          </a:prstGeom>
          <a:solidFill>
            <a:srgbClr val="1B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0" y="1965960"/>
            <a:ext cx="1005840" cy="457200"/>
          </a:xfrm>
          <a:prstGeom prst="rect">
            <a:avLst/>
          </a:prstGeom>
          <a:noFill/>
        </p:spPr>
        <p:txBody>
          <a:bodyPr wrap="square">
            <a:spAutoFit/>
          </a:bodyPr>
          <a:lstStyle/>
          <a:p>
            <a:pPr algn="ctr">
              <a:lnSpc>
                <a:spcPts val="2400"/>
              </a:lnSpc>
              <a:defRPr sz="2000" b="1">
                <a:solidFill>
                  <a:srgbClr val="E8A838"/>
                </a:solidFill>
                <a:latin typeface="Calibri"/>
              </a:defRPr>
            </a:pPr>
            <a:r>
              <a:t>77%+</a:t>
            </a:r>
          </a:p>
        </p:txBody>
      </p:sp>
      <p:sp>
        <p:nvSpPr>
          <p:cNvPr id="10" name="TextBox 9"/>
          <p:cNvSpPr txBox="1"/>
          <p:nvPr/>
        </p:nvSpPr>
        <p:spPr>
          <a:xfrm>
            <a:off x="9692640" y="2011680"/>
            <a:ext cx="2011680" cy="640080"/>
          </a:xfrm>
          <a:prstGeom prst="rect">
            <a:avLst/>
          </a:prstGeom>
          <a:noFill/>
        </p:spPr>
        <p:txBody>
          <a:bodyPr wrap="square">
            <a:spAutoFit/>
          </a:bodyPr>
          <a:lstStyle/>
          <a:p>
            <a:pPr algn="l">
              <a:lnSpc>
                <a:spcPts val="1320"/>
              </a:lnSpc>
              <a:defRPr sz="1100" b="0">
                <a:solidFill>
                  <a:srgbClr val="FFFFFF"/>
                </a:solidFill>
                <a:latin typeface="Calibri"/>
              </a:defRPr>
            </a:pPr>
            <a:r>
              <a:t>Over 5 years</a:t>
            </a:r>
            <a:br/>
            <a:r>
              <a:t>experience</a:t>
            </a:r>
          </a:p>
        </p:txBody>
      </p:sp>
      <p:sp>
        <p:nvSpPr>
          <p:cNvPr id="11" name="Rounded Rectangle 10"/>
          <p:cNvSpPr/>
          <p:nvPr/>
        </p:nvSpPr>
        <p:spPr>
          <a:xfrm>
            <a:off x="8503920" y="3063240"/>
            <a:ext cx="3291840" cy="960120"/>
          </a:xfrm>
          <a:prstGeom prst="roundRect">
            <a:avLst/>
          </a:prstGeom>
          <a:solidFill>
            <a:srgbClr val="16A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0" y="3108960"/>
            <a:ext cx="1005840" cy="457200"/>
          </a:xfrm>
          <a:prstGeom prst="rect">
            <a:avLst/>
          </a:prstGeom>
          <a:noFill/>
        </p:spPr>
        <p:txBody>
          <a:bodyPr wrap="square">
            <a:spAutoFit/>
          </a:bodyPr>
          <a:lstStyle/>
          <a:p>
            <a:pPr algn="ctr">
              <a:lnSpc>
                <a:spcPts val="2400"/>
              </a:lnSpc>
              <a:defRPr sz="2000" b="1">
                <a:solidFill>
                  <a:srgbClr val="E8A838"/>
                </a:solidFill>
                <a:latin typeface="Calibri"/>
              </a:defRPr>
            </a:pPr>
            <a:r>
              <a:t>53.9%</a:t>
            </a:r>
          </a:p>
        </p:txBody>
      </p:sp>
      <p:sp>
        <p:nvSpPr>
          <p:cNvPr id="13" name="TextBox 12"/>
          <p:cNvSpPr txBox="1"/>
          <p:nvPr/>
        </p:nvSpPr>
        <p:spPr>
          <a:xfrm>
            <a:off x="9692640" y="3154680"/>
            <a:ext cx="2011680" cy="640080"/>
          </a:xfrm>
          <a:prstGeom prst="rect">
            <a:avLst/>
          </a:prstGeom>
          <a:noFill/>
        </p:spPr>
        <p:txBody>
          <a:bodyPr wrap="square">
            <a:spAutoFit/>
          </a:bodyPr>
          <a:lstStyle/>
          <a:p>
            <a:pPr algn="l">
              <a:lnSpc>
                <a:spcPts val="1320"/>
              </a:lnSpc>
              <a:defRPr sz="1100" b="0">
                <a:solidFill>
                  <a:srgbClr val="FFFFFF"/>
                </a:solidFill>
                <a:latin typeface="Calibri"/>
              </a:defRPr>
            </a:pPr>
            <a:r>
              <a:t>Female</a:t>
            </a:r>
            <a:br/>
            <a:r>
              <a:t>respondents</a:t>
            </a:r>
          </a:p>
        </p:txBody>
      </p:sp>
      <p:sp>
        <p:nvSpPr>
          <p:cNvPr id="14" name="Rounded Rectangle 13"/>
          <p:cNvSpPr/>
          <p:nvPr/>
        </p:nvSpPr>
        <p:spPr>
          <a:xfrm>
            <a:off x="8503920" y="4206240"/>
            <a:ext cx="3291840" cy="960120"/>
          </a:xfrm>
          <a:prstGeom prst="roundRect">
            <a:avLst/>
          </a:prstGeom>
          <a:solidFill>
            <a:srgbClr val="132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0" y="4251959"/>
            <a:ext cx="1005840" cy="457200"/>
          </a:xfrm>
          <a:prstGeom prst="rect">
            <a:avLst/>
          </a:prstGeom>
          <a:noFill/>
        </p:spPr>
        <p:txBody>
          <a:bodyPr wrap="square">
            <a:spAutoFit/>
          </a:bodyPr>
          <a:lstStyle/>
          <a:p>
            <a:pPr algn="ctr">
              <a:lnSpc>
                <a:spcPts val="2400"/>
              </a:lnSpc>
              <a:defRPr sz="2000" b="1">
                <a:solidFill>
                  <a:srgbClr val="E8A838"/>
                </a:solidFill>
                <a:latin typeface="Calibri"/>
              </a:defRPr>
            </a:pPr>
            <a:r>
              <a:t>27.6%</a:t>
            </a:r>
          </a:p>
        </p:txBody>
      </p:sp>
      <p:sp>
        <p:nvSpPr>
          <p:cNvPr id="16" name="TextBox 15"/>
          <p:cNvSpPr txBox="1"/>
          <p:nvPr/>
        </p:nvSpPr>
        <p:spPr>
          <a:xfrm>
            <a:off x="9692640" y="4297679"/>
            <a:ext cx="2011680" cy="640080"/>
          </a:xfrm>
          <a:prstGeom prst="rect">
            <a:avLst/>
          </a:prstGeom>
          <a:noFill/>
        </p:spPr>
        <p:txBody>
          <a:bodyPr wrap="square">
            <a:spAutoFit/>
          </a:bodyPr>
          <a:lstStyle/>
          <a:p>
            <a:pPr algn="l">
              <a:lnSpc>
                <a:spcPts val="1320"/>
              </a:lnSpc>
              <a:defRPr sz="1100" b="0">
                <a:solidFill>
                  <a:srgbClr val="FFFFFF"/>
                </a:solidFill>
                <a:latin typeface="Calibri"/>
              </a:defRPr>
            </a:pPr>
            <a:r>
              <a:t>Hold professional</a:t>
            </a:r>
            <a:br/>
            <a:r>
              <a:t>certifications</a:t>
            </a:r>
          </a:p>
        </p:txBody>
      </p:sp>
      <p:sp>
        <p:nvSpPr>
          <p:cNvPr id="17" name="Rounded Rectangle 16"/>
          <p:cNvSpPr/>
          <p:nvPr/>
        </p:nvSpPr>
        <p:spPr>
          <a:xfrm>
            <a:off x="8503920" y="5349240"/>
            <a:ext cx="3291840" cy="960120"/>
          </a:xfrm>
          <a:prstGeom prst="roundRect">
            <a:avLst/>
          </a:prstGeom>
          <a:solidFill>
            <a:srgbClr val="1B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0" y="5394959"/>
            <a:ext cx="1005840" cy="457200"/>
          </a:xfrm>
          <a:prstGeom prst="rect">
            <a:avLst/>
          </a:prstGeom>
          <a:noFill/>
        </p:spPr>
        <p:txBody>
          <a:bodyPr wrap="square">
            <a:spAutoFit/>
          </a:bodyPr>
          <a:lstStyle/>
          <a:p>
            <a:pPr algn="ctr">
              <a:lnSpc>
                <a:spcPts val="2400"/>
              </a:lnSpc>
              <a:defRPr sz="2000" b="1">
                <a:solidFill>
                  <a:srgbClr val="E8A838"/>
                </a:solidFill>
                <a:latin typeface="Calibri"/>
              </a:defRPr>
            </a:pPr>
            <a:r>
              <a:t>32.3%</a:t>
            </a:r>
          </a:p>
        </p:txBody>
      </p:sp>
      <p:sp>
        <p:nvSpPr>
          <p:cNvPr id="19" name="TextBox 18"/>
          <p:cNvSpPr txBox="1"/>
          <p:nvPr/>
        </p:nvSpPr>
        <p:spPr>
          <a:xfrm>
            <a:off x="9692640" y="5440679"/>
            <a:ext cx="2011680" cy="640080"/>
          </a:xfrm>
          <a:prstGeom prst="rect">
            <a:avLst/>
          </a:prstGeom>
          <a:noFill/>
        </p:spPr>
        <p:txBody>
          <a:bodyPr wrap="square">
            <a:spAutoFit/>
          </a:bodyPr>
          <a:lstStyle/>
          <a:p>
            <a:pPr algn="l">
              <a:lnSpc>
                <a:spcPts val="1320"/>
              </a:lnSpc>
              <a:defRPr sz="1100" b="0">
                <a:solidFill>
                  <a:srgbClr val="FFFFFF"/>
                </a:solidFill>
                <a:latin typeface="Calibri"/>
              </a:defRPr>
            </a:pPr>
            <a:r>
              <a:t>Hybrid project</a:t>
            </a:r>
            <a:br/>
            <a:r>
              <a:t>experience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D3A"/>
        </a:solidFill>
        <a:effectLst/>
      </p:bgPr>
    </p:bg>
    <p:spTree>
      <p:nvGrpSpPr>
        <p:cNvPr id="1" name=""/>
        <p:cNvGrpSpPr/>
        <p:nvPr/>
      </p:nvGrpSpPr>
      <p:grpSpPr>
        <a:xfrm>
          <a:off x="0" y="0"/>
          <a:ext cx="0" cy="0"/>
          <a:chOff x="0" y="0"/>
          <a:chExt cx="0" cy="0"/>
        </a:xfrm>
      </p:grpSpPr>
      <p:sp>
        <p:nvSpPr>
          <p:cNvPr id="2" name="Rectangle 1"/>
          <p:cNvSpPr/>
          <p:nvPr/>
        </p:nvSpPr>
        <p:spPr>
          <a:xfrm>
            <a:off x="731520" y="640080"/>
            <a:ext cx="2286000" cy="5029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777240"/>
            <a:ext cx="9144000" cy="640080"/>
          </a:xfrm>
          <a:prstGeom prst="rect">
            <a:avLst/>
          </a:prstGeom>
          <a:noFill/>
        </p:spPr>
        <p:txBody>
          <a:bodyPr wrap="square">
            <a:spAutoFit/>
          </a:bodyPr>
          <a:lstStyle/>
          <a:p>
            <a:pPr algn="l">
              <a:lnSpc>
                <a:spcPts val="3600"/>
              </a:lnSpc>
              <a:defRPr sz="3000" b="1">
                <a:solidFill>
                  <a:srgbClr val="E8A838"/>
                </a:solidFill>
                <a:latin typeface="Calibri"/>
              </a:defRPr>
            </a:pPr>
            <a:r>
              <a:t>Measurement Model &amp; Validity</a:t>
            </a:r>
          </a:p>
        </p:txBody>
      </p:sp>
      <p:sp>
        <p:nvSpPr>
          <p:cNvPr id="4" name="Rectangle 3"/>
          <p:cNvSpPr/>
          <p:nvPr/>
        </p:nvSpPr>
        <p:spPr>
          <a:xfrm>
            <a:off x="0" y="6784848"/>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47120" y="6446520"/>
            <a:ext cx="731520" cy="320040"/>
          </a:xfrm>
          <a:prstGeom prst="rect">
            <a:avLst/>
          </a:prstGeom>
          <a:noFill/>
        </p:spPr>
        <p:txBody>
          <a:bodyPr wrap="none">
            <a:spAutoFit/>
          </a:bodyPr>
          <a:lstStyle/>
          <a:p>
            <a:pPr algn="r">
              <a:defRPr sz="1000">
                <a:solidFill>
                  <a:srgbClr val="99AABB"/>
                </a:solidFill>
              </a:defRPr>
            </a:pPr>
            <a:r>
              <a:t>7/14</a:t>
            </a:r>
          </a:p>
        </p:txBody>
      </p:sp>
      <p:pic>
        <p:nvPicPr>
          <p:cNvPr id="6" name="Picture 5" descr="validity.png"/>
          <p:cNvPicPr>
            <a:picLocks noChangeAspect="1"/>
          </p:cNvPicPr>
          <p:nvPr/>
        </p:nvPicPr>
        <p:blipFill>
          <a:blip r:embed="rId2"/>
          <a:stretch>
            <a:fillRect/>
          </a:stretch>
        </p:blipFill>
        <p:spPr>
          <a:xfrm>
            <a:off x="274320" y="1737360"/>
            <a:ext cx="6400800" cy="3657600"/>
          </a:xfrm>
          <a:prstGeom prst="rect">
            <a:avLst/>
          </a:prstGeom>
        </p:spPr>
      </p:pic>
      <p:pic>
        <p:nvPicPr>
          <p:cNvPr id="7" name="Picture 6" descr="descriptive_stats.png"/>
          <p:cNvPicPr>
            <a:picLocks noChangeAspect="1"/>
          </p:cNvPicPr>
          <p:nvPr/>
        </p:nvPicPr>
        <p:blipFill>
          <a:blip r:embed="rId3"/>
          <a:stretch>
            <a:fillRect/>
          </a:stretch>
        </p:blipFill>
        <p:spPr>
          <a:xfrm>
            <a:off x="7231930" y="91440"/>
            <a:ext cx="4286560" cy="1653387"/>
          </a:xfrm>
          <a:prstGeom prst="rect">
            <a:avLst/>
          </a:prstGeom>
        </p:spPr>
      </p:pic>
      <p:sp>
        <p:nvSpPr>
          <p:cNvPr id="8" name="Rounded Rectangle 7"/>
          <p:cNvSpPr/>
          <p:nvPr/>
        </p:nvSpPr>
        <p:spPr>
          <a:xfrm>
            <a:off x="7132320" y="1828800"/>
            <a:ext cx="4572000" cy="4754880"/>
          </a:xfrm>
          <a:prstGeom prst="roundRect">
            <a:avLst/>
          </a:prstGeom>
          <a:solidFill>
            <a:srgbClr val="132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0" y="2011680"/>
            <a:ext cx="4206240" cy="365760"/>
          </a:xfrm>
          <a:prstGeom prst="rect">
            <a:avLst/>
          </a:prstGeom>
          <a:noFill/>
        </p:spPr>
        <p:txBody>
          <a:bodyPr wrap="square">
            <a:spAutoFit/>
          </a:bodyPr>
          <a:lstStyle/>
          <a:p>
            <a:pPr algn="ctr">
              <a:lnSpc>
                <a:spcPts val="1680"/>
              </a:lnSpc>
              <a:defRPr sz="1400" b="1">
                <a:solidFill>
                  <a:srgbClr val="E8A838"/>
                </a:solidFill>
                <a:latin typeface="Calibri"/>
              </a:defRPr>
            </a:pPr>
            <a:r>
              <a:t>Measurement Validation Summary</a:t>
            </a:r>
          </a:p>
        </p:txBody>
      </p:sp>
      <p:sp>
        <p:nvSpPr>
          <p:cNvPr id="10" name="TextBox 9"/>
          <p:cNvSpPr txBox="1"/>
          <p:nvPr/>
        </p:nvSpPr>
        <p:spPr>
          <a:xfrm>
            <a:off x="7406640" y="2560320"/>
            <a:ext cx="4023360" cy="3840480"/>
          </a:xfrm>
          <a:prstGeom prst="rect">
            <a:avLst/>
          </a:prstGeom>
          <a:noFill/>
        </p:spPr>
        <p:txBody>
          <a:bodyPr wrap="square">
            <a:spAutoFit/>
          </a:bodyPr>
          <a:lstStyle/>
          <a:p>
            <a:pPr algn="l">
              <a:lnSpc>
                <a:spcPts val="1260"/>
              </a:lnSpc>
              <a:spcAft>
                <a:spcPts val="300"/>
              </a:spcAft>
              <a:defRPr sz="1050" b="1">
                <a:solidFill>
                  <a:srgbClr val="27AE60"/>
                </a:solidFill>
                <a:latin typeface="Calibri"/>
              </a:defRPr>
            </a:pPr>
            <a:r>
              <a:t>KMO = 0.927</a:t>
            </a:r>
          </a:p>
          <a:p>
            <a:pPr algn="l">
              <a:lnSpc>
                <a:spcPts val="1260"/>
              </a:lnSpc>
              <a:spcAft>
                <a:spcPts val="300"/>
              </a:spcAft>
              <a:defRPr sz="1050" b="0">
                <a:solidFill>
                  <a:srgbClr val="CCDDEE"/>
                </a:solidFill>
                <a:latin typeface="Calibri"/>
              </a:defRPr>
            </a:pPr>
            <a:r>
              <a:t>Excellent sampling adequacy</a:t>
            </a:r>
          </a:p>
          <a:p>
            <a:pPr algn="l">
              <a:lnSpc>
                <a:spcPts val="1260"/>
              </a:lnSpc>
              <a:spcAft>
                <a:spcPts val="300"/>
              </a:spcAft>
              <a:defRPr sz="1050" b="0">
                <a:solidFill>
                  <a:srgbClr val="CCDDEE"/>
                </a:solidFill>
                <a:latin typeface="Calibri"/>
              </a:defRPr>
            </a:pPr>
            <a:endParaRPr/>
          </a:p>
          <a:p>
            <a:pPr algn="l">
              <a:lnSpc>
                <a:spcPts val="1260"/>
              </a:lnSpc>
              <a:spcAft>
                <a:spcPts val="300"/>
              </a:spcAft>
              <a:defRPr sz="1050" b="1">
                <a:solidFill>
                  <a:srgbClr val="27AE60"/>
                </a:solidFill>
                <a:latin typeface="Calibri"/>
              </a:defRPr>
            </a:pPr>
            <a:r>
              <a:t>All AVE &gt; 0.50</a:t>
            </a:r>
          </a:p>
          <a:p>
            <a:pPr algn="l">
              <a:lnSpc>
                <a:spcPts val="1260"/>
              </a:lnSpc>
              <a:spcAft>
                <a:spcPts val="300"/>
              </a:spcAft>
              <a:defRPr sz="1050" b="0">
                <a:solidFill>
                  <a:srgbClr val="CCDDEE"/>
                </a:solidFill>
                <a:latin typeface="Calibri"/>
              </a:defRPr>
            </a:pPr>
            <a:r>
              <a:t>Convergent validity confirmed</a:t>
            </a:r>
          </a:p>
          <a:p>
            <a:pPr algn="l">
              <a:lnSpc>
                <a:spcPts val="1260"/>
              </a:lnSpc>
              <a:spcAft>
                <a:spcPts val="300"/>
              </a:spcAft>
              <a:defRPr sz="1050" b="0">
                <a:solidFill>
                  <a:srgbClr val="CCDDEE"/>
                </a:solidFill>
                <a:latin typeface="Calibri"/>
              </a:defRPr>
            </a:pPr>
            <a:endParaRPr/>
          </a:p>
          <a:p>
            <a:pPr algn="l">
              <a:lnSpc>
                <a:spcPts val="1260"/>
              </a:lnSpc>
              <a:spcAft>
                <a:spcPts val="300"/>
              </a:spcAft>
              <a:defRPr sz="1050" b="1">
                <a:solidFill>
                  <a:srgbClr val="27AE60"/>
                </a:solidFill>
                <a:latin typeface="Calibri"/>
              </a:defRPr>
            </a:pPr>
            <a:r>
              <a:t>All CR &gt; 0.70</a:t>
            </a:r>
          </a:p>
          <a:p>
            <a:pPr algn="l">
              <a:lnSpc>
                <a:spcPts val="1260"/>
              </a:lnSpc>
              <a:spcAft>
                <a:spcPts val="300"/>
              </a:spcAft>
              <a:defRPr sz="1050" b="0">
                <a:solidFill>
                  <a:srgbClr val="CCDDEE"/>
                </a:solidFill>
                <a:latin typeface="Calibri"/>
              </a:defRPr>
            </a:pPr>
            <a:r>
              <a:t>Internal consistency established</a:t>
            </a:r>
          </a:p>
          <a:p>
            <a:pPr algn="l">
              <a:lnSpc>
                <a:spcPts val="1260"/>
              </a:lnSpc>
              <a:spcAft>
                <a:spcPts val="300"/>
              </a:spcAft>
              <a:defRPr sz="1050" b="0">
                <a:solidFill>
                  <a:srgbClr val="CCDDEE"/>
                </a:solidFill>
                <a:latin typeface="Calibri"/>
              </a:defRPr>
            </a:pPr>
            <a:endParaRPr/>
          </a:p>
          <a:p>
            <a:pPr algn="l">
              <a:lnSpc>
                <a:spcPts val="1260"/>
              </a:lnSpc>
              <a:spcAft>
                <a:spcPts val="300"/>
              </a:spcAft>
              <a:defRPr sz="1050" b="1">
                <a:solidFill>
                  <a:srgbClr val="27AE60"/>
                </a:solidFill>
                <a:latin typeface="Calibri"/>
              </a:defRPr>
            </a:pPr>
            <a:r>
              <a:t>Fornell-Larcker Criterion Met</a:t>
            </a:r>
          </a:p>
          <a:p>
            <a:pPr algn="l">
              <a:lnSpc>
                <a:spcPts val="1260"/>
              </a:lnSpc>
              <a:spcAft>
                <a:spcPts val="300"/>
              </a:spcAft>
              <a:defRPr sz="1050" b="0">
                <a:solidFill>
                  <a:srgbClr val="CCDDEE"/>
                </a:solidFill>
                <a:latin typeface="Calibri"/>
              </a:defRPr>
            </a:pPr>
            <a:r>
              <a:t>Discriminant validity verified</a:t>
            </a:r>
          </a:p>
          <a:p>
            <a:pPr algn="l">
              <a:lnSpc>
                <a:spcPts val="1260"/>
              </a:lnSpc>
              <a:spcAft>
                <a:spcPts val="300"/>
              </a:spcAft>
              <a:defRPr sz="1050" b="0">
                <a:solidFill>
                  <a:srgbClr val="CCDDEE"/>
                </a:solidFill>
                <a:latin typeface="Calibri"/>
              </a:defRPr>
            </a:pPr>
            <a:endParaRPr/>
          </a:p>
          <a:p>
            <a:pPr algn="l">
              <a:lnSpc>
                <a:spcPts val="1260"/>
              </a:lnSpc>
              <a:spcAft>
                <a:spcPts val="300"/>
              </a:spcAft>
              <a:defRPr sz="1050" b="1">
                <a:solidFill>
                  <a:srgbClr val="27AE60"/>
                </a:solidFill>
                <a:latin typeface="Calibri"/>
              </a:defRPr>
            </a:pPr>
            <a:r>
              <a:t>Bartlett's Test: p &lt; 0.001</a:t>
            </a:r>
          </a:p>
          <a:p>
            <a:pPr algn="l">
              <a:lnSpc>
                <a:spcPts val="1260"/>
              </a:lnSpc>
              <a:spcAft>
                <a:spcPts val="300"/>
              </a:spcAft>
              <a:defRPr sz="1050" b="0">
                <a:solidFill>
                  <a:srgbClr val="CCDDEE"/>
                </a:solidFill>
                <a:latin typeface="Calibri"/>
              </a:defRPr>
            </a:pPr>
            <a:r>
              <a:t>χ² = 7618.445, df = 465</a:t>
            </a:r>
          </a:p>
          <a:p>
            <a:pPr algn="l">
              <a:lnSpc>
                <a:spcPts val="1260"/>
              </a:lnSpc>
              <a:spcAft>
                <a:spcPts val="300"/>
              </a:spcAft>
              <a:defRPr sz="1050" b="0">
                <a:solidFill>
                  <a:srgbClr val="CCDDEE"/>
                </a:solidFill>
                <a:latin typeface="Calibri"/>
              </a:defRPr>
            </a:pPr>
            <a:endParaRPr/>
          </a:p>
          <a:p>
            <a:pPr algn="l">
              <a:lnSpc>
                <a:spcPts val="1260"/>
              </a:lnSpc>
              <a:spcAft>
                <a:spcPts val="300"/>
              </a:spcAft>
              <a:defRPr sz="1050" b="1">
                <a:solidFill>
                  <a:srgbClr val="27AE60"/>
                </a:solidFill>
                <a:latin typeface="Calibri"/>
              </a:defRPr>
            </a:pPr>
            <a:r>
              <a:t>All factor loadings &gt; 0.60</a:t>
            </a:r>
          </a:p>
          <a:p>
            <a:pPr algn="l">
              <a:lnSpc>
                <a:spcPts val="1260"/>
              </a:lnSpc>
              <a:spcAft>
                <a:spcPts val="300"/>
              </a:spcAft>
              <a:defRPr sz="1050" b="0">
                <a:solidFill>
                  <a:srgbClr val="CCDDEE"/>
                </a:solidFill>
                <a:latin typeface="Calibri"/>
              </a:defRPr>
            </a:pPr>
            <a:r>
              <a:t>Indicator reliability confirmed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D3A"/>
        </a:solidFill>
        <a:effectLst/>
      </p:bgPr>
    </p:bg>
    <p:spTree>
      <p:nvGrpSpPr>
        <p:cNvPr id="1" name=""/>
        <p:cNvGrpSpPr/>
        <p:nvPr/>
      </p:nvGrpSpPr>
      <p:grpSpPr>
        <a:xfrm>
          <a:off x="0" y="0"/>
          <a:ext cx="0" cy="0"/>
          <a:chOff x="0" y="0"/>
          <a:chExt cx="0" cy="0"/>
        </a:xfrm>
      </p:grpSpPr>
      <p:sp>
        <p:nvSpPr>
          <p:cNvPr id="2" name="Rectangle 1"/>
          <p:cNvSpPr/>
          <p:nvPr/>
        </p:nvSpPr>
        <p:spPr>
          <a:xfrm>
            <a:off x="731520" y="640080"/>
            <a:ext cx="2286000" cy="5029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777240"/>
            <a:ext cx="9144000" cy="640080"/>
          </a:xfrm>
          <a:prstGeom prst="rect">
            <a:avLst/>
          </a:prstGeom>
          <a:noFill/>
        </p:spPr>
        <p:txBody>
          <a:bodyPr wrap="square">
            <a:spAutoFit/>
          </a:bodyPr>
          <a:lstStyle/>
          <a:p>
            <a:pPr algn="l">
              <a:lnSpc>
                <a:spcPts val="3600"/>
              </a:lnSpc>
              <a:defRPr sz="3000" b="1">
                <a:solidFill>
                  <a:srgbClr val="E8A838"/>
                </a:solidFill>
                <a:latin typeface="Calibri"/>
              </a:defRPr>
            </a:pPr>
            <a:r>
              <a:t>Hypothesis Results: H1 &amp; H2</a:t>
            </a:r>
          </a:p>
        </p:txBody>
      </p:sp>
      <p:sp>
        <p:nvSpPr>
          <p:cNvPr id="4" name="Rectangle 3"/>
          <p:cNvSpPr/>
          <p:nvPr/>
        </p:nvSpPr>
        <p:spPr>
          <a:xfrm>
            <a:off x="0" y="6784848"/>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47120" y="6446520"/>
            <a:ext cx="731520" cy="320040"/>
          </a:xfrm>
          <a:prstGeom prst="rect">
            <a:avLst/>
          </a:prstGeom>
          <a:noFill/>
        </p:spPr>
        <p:txBody>
          <a:bodyPr wrap="none">
            <a:spAutoFit/>
          </a:bodyPr>
          <a:lstStyle/>
          <a:p>
            <a:pPr algn="r">
              <a:defRPr sz="1000">
                <a:solidFill>
                  <a:srgbClr val="99AABB"/>
                </a:solidFill>
              </a:defRPr>
            </a:pPr>
            <a:r>
              <a:t>8/14</a:t>
            </a:r>
          </a:p>
        </p:txBody>
      </p:sp>
      <p:sp>
        <p:nvSpPr>
          <p:cNvPr id="6" name="Rounded Rectangle 5"/>
          <p:cNvSpPr/>
          <p:nvPr/>
        </p:nvSpPr>
        <p:spPr>
          <a:xfrm>
            <a:off x="731520" y="1920240"/>
            <a:ext cx="5303520" cy="4572000"/>
          </a:xfrm>
          <a:prstGeom prst="roundRect">
            <a:avLst/>
          </a:prstGeom>
          <a:solidFill>
            <a:srgbClr val="132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920240"/>
            <a:ext cx="5303520" cy="502920"/>
          </a:xfrm>
          <a:prstGeom prst="roundRect">
            <a:avLst/>
          </a:prstGeom>
          <a:solidFill>
            <a:srgbClr val="1B4F8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H1: Risk Process Alignment → RME</a:t>
            </a:r>
          </a:p>
        </p:txBody>
      </p:sp>
      <p:sp>
        <p:nvSpPr>
          <p:cNvPr id="8" name="TextBox 7"/>
          <p:cNvSpPr txBox="1"/>
          <p:nvPr/>
        </p:nvSpPr>
        <p:spPr>
          <a:xfrm>
            <a:off x="1005840" y="2606040"/>
            <a:ext cx="4754880" cy="3657600"/>
          </a:xfrm>
          <a:prstGeom prst="rect">
            <a:avLst/>
          </a:prstGeom>
          <a:noFill/>
        </p:spPr>
        <p:txBody>
          <a:bodyPr wrap="square">
            <a:spAutoFit/>
          </a:bodyPr>
          <a:lstStyle/>
          <a:p>
            <a:pPr algn="l">
              <a:lnSpc>
                <a:spcPts val="1320"/>
              </a:lnSpc>
              <a:spcAft>
                <a:spcPts val="300"/>
              </a:spcAft>
              <a:defRPr sz="1100" b="1">
                <a:solidFill>
                  <a:srgbClr val="27AE60"/>
                </a:solidFill>
                <a:latin typeface="Calibri"/>
              </a:defRPr>
            </a:pPr>
            <a:r>
              <a:t>✅  SUPPORTED</a:t>
            </a:r>
          </a:p>
          <a:p>
            <a:pPr algn="l">
              <a:lnSpc>
                <a:spcPts val="1320"/>
              </a:lnSpc>
              <a:spcAft>
                <a:spcPts val="300"/>
              </a:spcAft>
              <a:defRPr sz="1100" b="0">
                <a:solidFill>
                  <a:srgbClr val="CCDDEE"/>
                </a:solidFill>
                <a:latin typeface="Calibri"/>
              </a:defRPr>
            </a:pPr>
            <a:endParaRPr/>
          </a:p>
          <a:p>
            <a:pPr algn="l">
              <a:lnSpc>
                <a:spcPts val="1320"/>
              </a:lnSpc>
              <a:spcAft>
                <a:spcPts val="300"/>
              </a:spcAft>
              <a:defRPr sz="1100" b="1">
                <a:solidFill>
                  <a:srgbClr val="FFFFFF"/>
                </a:solidFill>
                <a:latin typeface="Calibri"/>
              </a:defRPr>
            </a:pPr>
            <a:r>
              <a:t>β = 0.464  |  C.R. = 7.346  |  p &lt; 0.001</a:t>
            </a:r>
          </a:p>
          <a:p>
            <a:pPr algn="l">
              <a:lnSpc>
                <a:spcPts val="1320"/>
              </a:lnSpc>
              <a:spcAft>
                <a:spcPts val="300"/>
              </a:spcAft>
              <a:defRPr sz="1100" b="0">
                <a:solidFill>
                  <a:srgbClr val="CCDDEE"/>
                </a:solidFill>
                <a:latin typeface="Calibri"/>
              </a:defRPr>
            </a:pPr>
            <a:endParaRPr/>
          </a:p>
          <a:p>
            <a:pPr algn="l">
              <a:lnSpc>
                <a:spcPts val="1320"/>
              </a:lnSpc>
              <a:spcAft>
                <a:spcPts val="300"/>
              </a:spcAft>
              <a:defRPr sz="1100" b="1">
                <a:solidFill>
                  <a:srgbClr val="E8A838"/>
                </a:solidFill>
                <a:latin typeface="Calibri"/>
              </a:defRPr>
            </a:pPr>
            <a:r>
              <a:t>Model Fit:</a:t>
            </a:r>
          </a:p>
          <a:p>
            <a:pPr algn="l">
              <a:lnSpc>
                <a:spcPts val="1320"/>
              </a:lnSpc>
              <a:spcAft>
                <a:spcPts val="300"/>
              </a:spcAft>
              <a:defRPr sz="1100" b="0">
                <a:solidFill>
                  <a:srgbClr val="CCDDEE"/>
                </a:solidFill>
                <a:latin typeface="Calibri"/>
              </a:defRPr>
            </a:pPr>
            <a:r>
              <a:t>CMIN/DF = 2.366 | GFI = 0.958 | CFI = 0.976</a:t>
            </a:r>
          </a:p>
          <a:p>
            <a:pPr algn="l">
              <a:lnSpc>
                <a:spcPts val="1320"/>
              </a:lnSpc>
              <a:spcAft>
                <a:spcPts val="300"/>
              </a:spcAft>
              <a:defRPr sz="1100" b="0">
                <a:solidFill>
                  <a:srgbClr val="CCDDEE"/>
                </a:solidFill>
                <a:latin typeface="Calibri"/>
              </a:defRPr>
            </a:pPr>
            <a:r>
              <a:t>RMSEA = 0.060</a:t>
            </a:r>
          </a:p>
          <a:p>
            <a:pPr algn="l">
              <a:lnSpc>
                <a:spcPts val="1320"/>
              </a:lnSpc>
              <a:spcAft>
                <a:spcPts val="300"/>
              </a:spcAft>
              <a:defRPr sz="1100" b="0">
                <a:solidFill>
                  <a:srgbClr val="CCDDEE"/>
                </a:solidFill>
                <a:latin typeface="Calibri"/>
              </a:defRPr>
            </a:pPr>
            <a:endParaRPr/>
          </a:p>
          <a:p>
            <a:pPr algn="l">
              <a:lnSpc>
                <a:spcPts val="1320"/>
              </a:lnSpc>
              <a:spcAft>
                <a:spcPts val="300"/>
              </a:spcAft>
              <a:defRPr sz="1100" b="1">
                <a:solidFill>
                  <a:srgbClr val="E8A838"/>
                </a:solidFill>
                <a:latin typeface="Calibri"/>
              </a:defRPr>
            </a:pPr>
            <a:r>
              <a:t>Interpretation:</a:t>
            </a:r>
          </a:p>
          <a:p>
            <a:pPr algn="l">
              <a:lnSpc>
                <a:spcPts val="1320"/>
              </a:lnSpc>
              <a:spcAft>
                <a:spcPts val="300"/>
              </a:spcAft>
              <a:defRPr sz="1100" b="0">
                <a:solidFill>
                  <a:srgbClr val="CCDDEE"/>
                </a:solidFill>
                <a:latin typeface="Calibri"/>
              </a:defRPr>
            </a:pPr>
            <a:r>
              <a:t>Moderate-to-strong positive effect. Aligning risk identification, assessment, and monitoring across Agile &amp; Waterfall components significantly enhances coordination and reduces ambiguity.</a:t>
            </a:r>
          </a:p>
          <a:p>
            <a:pPr algn="l">
              <a:lnSpc>
                <a:spcPts val="1320"/>
              </a:lnSpc>
              <a:spcAft>
                <a:spcPts val="300"/>
              </a:spcAft>
              <a:defRPr sz="1100" b="0">
                <a:solidFill>
                  <a:srgbClr val="CCDDEE"/>
                </a:solidFill>
                <a:latin typeface="Calibri"/>
              </a:defRPr>
            </a:pPr>
            <a:endParaRPr/>
          </a:p>
          <a:p>
            <a:pPr algn="l">
              <a:lnSpc>
                <a:spcPts val="1320"/>
              </a:lnSpc>
              <a:spcAft>
                <a:spcPts val="300"/>
              </a:spcAft>
              <a:defRPr sz="1100" b="0">
                <a:solidFill>
                  <a:srgbClr val="CCDDEE"/>
                </a:solidFill>
                <a:latin typeface="Calibri"/>
              </a:defRPr>
            </a:pPr>
            <a:r>
              <a:t>Process alignment functions as a foundational enabler of effective risk management.</a:t>
            </a:r>
          </a:p>
        </p:txBody>
      </p:sp>
      <p:sp>
        <p:nvSpPr>
          <p:cNvPr id="9" name="Rounded Rectangle 8"/>
          <p:cNvSpPr/>
          <p:nvPr/>
        </p:nvSpPr>
        <p:spPr>
          <a:xfrm>
            <a:off x="6309360" y="1920240"/>
            <a:ext cx="5303520" cy="4572000"/>
          </a:xfrm>
          <a:prstGeom prst="roundRect">
            <a:avLst/>
          </a:prstGeom>
          <a:solidFill>
            <a:srgbClr val="132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309360" y="1920240"/>
            <a:ext cx="5303520" cy="502920"/>
          </a:xfrm>
          <a:prstGeom prst="roundRect">
            <a:avLst/>
          </a:prstGeom>
          <a:solidFill>
            <a:srgbClr val="3A7CB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H2: Risk Visibility Integration → RME</a:t>
            </a:r>
          </a:p>
        </p:txBody>
      </p:sp>
      <p:sp>
        <p:nvSpPr>
          <p:cNvPr id="11" name="TextBox 10"/>
          <p:cNvSpPr txBox="1"/>
          <p:nvPr/>
        </p:nvSpPr>
        <p:spPr>
          <a:xfrm>
            <a:off x="6583680" y="2606040"/>
            <a:ext cx="4754880" cy="3657600"/>
          </a:xfrm>
          <a:prstGeom prst="rect">
            <a:avLst/>
          </a:prstGeom>
          <a:noFill/>
        </p:spPr>
        <p:txBody>
          <a:bodyPr wrap="square">
            <a:spAutoFit/>
          </a:bodyPr>
          <a:lstStyle/>
          <a:p>
            <a:pPr algn="l">
              <a:lnSpc>
                <a:spcPts val="1320"/>
              </a:lnSpc>
              <a:spcAft>
                <a:spcPts val="300"/>
              </a:spcAft>
              <a:defRPr sz="1100" b="1">
                <a:solidFill>
                  <a:srgbClr val="F39C12"/>
                </a:solidFill>
                <a:latin typeface="Calibri"/>
              </a:defRPr>
            </a:pPr>
            <a:r>
              <a:t>⚠️  SUPPORTED (Marginal Effect)</a:t>
            </a:r>
          </a:p>
          <a:p>
            <a:pPr algn="l">
              <a:lnSpc>
                <a:spcPts val="1320"/>
              </a:lnSpc>
              <a:spcAft>
                <a:spcPts val="300"/>
              </a:spcAft>
              <a:defRPr sz="1100" b="0">
                <a:solidFill>
                  <a:srgbClr val="CCDDEE"/>
                </a:solidFill>
                <a:latin typeface="Calibri"/>
              </a:defRPr>
            </a:pPr>
            <a:endParaRPr/>
          </a:p>
          <a:p>
            <a:pPr algn="l">
              <a:lnSpc>
                <a:spcPts val="1320"/>
              </a:lnSpc>
              <a:spcAft>
                <a:spcPts val="300"/>
              </a:spcAft>
              <a:defRPr sz="1100" b="1">
                <a:solidFill>
                  <a:srgbClr val="FFFFFF"/>
                </a:solidFill>
                <a:latin typeface="Calibri"/>
              </a:defRPr>
            </a:pPr>
            <a:r>
              <a:t>β = 0.121  |  C.R. = 2.116  |  p = 0.034</a:t>
            </a:r>
          </a:p>
          <a:p>
            <a:pPr algn="l">
              <a:lnSpc>
                <a:spcPts val="1320"/>
              </a:lnSpc>
              <a:spcAft>
                <a:spcPts val="300"/>
              </a:spcAft>
              <a:defRPr sz="1100" b="0">
                <a:solidFill>
                  <a:srgbClr val="CCDDEE"/>
                </a:solidFill>
                <a:latin typeface="Calibri"/>
              </a:defRPr>
            </a:pPr>
            <a:endParaRPr/>
          </a:p>
          <a:p>
            <a:pPr algn="l">
              <a:lnSpc>
                <a:spcPts val="1320"/>
              </a:lnSpc>
              <a:spcAft>
                <a:spcPts val="300"/>
              </a:spcAft>
              <a:defRPr sz="1100" b="1">
                <a:solidFill>
                  <a:srgbClr val="E8A838"/>
                </a:solidFill>
                <a:latin typeface="Calibri"/>
              </a:defRPr>
            </a:pPr>
            <a:r>
              <a:t>Model Fit:</a:t>
            </a:r>
          </a:p>
          <a:p>
            <a:pPr algn="l">
              <a:lnSpc>
                <a:spcPts val="1320"/>
              </a:lnSpc>
              <a:spcAft>
                <a:spcPts val="300"/>
              </a:spcAft>
              <a:defRPr sz="1100" b="0">
                <a:solidFill>
                  <a:srgbClr val="CCDDEE"/>
                </a:solidFill>
                <a:latin typeface="Calibri"/>
              </a:defRPr>
            </a:pPr>
            <a:r>
              <a:t>CMIN/DF = 1.376 | CFI = 0.994</a:t>
            </a:r>
          </a:p>
          <a:p>
            <a:pPr algn="l">
              <a:lnSpc>
                <a:spcPts val="1320"/>
              </a:lnSpc>
              <a:spcAft>
                <a:spcPts val="300"/>
              </a:spcAft>
              <a:defRPr sz="1100" b="0">
                <a:solidFill>
                  <a:srgbClr val="CCDDEE"/>
                </a:solidFill>
                <a:latin typeface="Calibri"/>
              </a:defRPr>
            </a:pPr>
            <a:r>
              <a:t>RMSEA = 0.031</a:t>
            </a:r>
          </a:p>
          <a:p>
            <a:pPr algn="l">
              <a:lnSpc>
                <a:spcPts val="1320"/>
              </a:lnSpc>
              <a:spcAft>
                <a:spcPts val="300"/>
              </a:spcAft>
              <a:defRPr sz="1100" b="0">
                <a:solidFill>
                  <a:srgbClr val="CCDDEE"/>
                </a:solidFill>
                <a:latin typeface="Calibri"/>
              </a:defRPr>
            </a:pPr>
            <a:endParaRPr/>
          </a:p>
          <a:p>
            <a:pPr algn="l">
              <a:lnSpc>
                <a:spcPts val="1320"/>
              </a:lnSpc>
              <a:spcAft>
                <a:spcPts val="300"/>
              </a:spcAft>
              <a:defRPr sz="1100" b="1">
                <a:solidFill>
                  <a:srgbClr val="E8A838"/>
                </a:solidFill>
                <a:latin typeface="Calibri"/>
              </a:defRPr>
            </a:pPr>
            <a:r>
              <a:t>Interpretation:</a:t>
            </a:r>
          </a:p>
          <a:p>
            <a:pPr algn="l">
              <a:lnSpc>
                <a:spcPts val="1320"/>
              </a:lnSpc>
              <a:spcAft>
                <a:spcPts val="300"/>
              </a:spcAft>
              <a:defRPr sz="1100" b="0">
                <a:solidFill>
                  <a:srgbClr val="CCDDEE"/>
                </a:solidFill>
                <a:latin typeface="Calibri"/>
              </a:defRPr>
            </a:pPr>
            <a:r>
              <a:t>Statistically significant but modest effect. Visibility alone is insufficient — it functions as a supportive mechanism rather than an independent driver.</a:t>
            </a:r>
          </a:p>
          <a:p>
            <a:pPr algn="l">
              <a:lnSpc>
                <a:spcPts val="1320"/>
              </a:lnSpc>
              <a:spcAft>
                <a:spcPts val="300"/>
              </a:spcAft>
              <a:defRPr sz="1100" b="0">
                <a:solidFill>
                  <a:srgbClr val="CCDDEE"/>
                </a:solidFill>
                <a:latin typeface="Calibri"/>
              </a:defRPr>
            </a:pPr>
            <a:endParaRPr/>
          </a:p>
          <a:p>
            <a:pPr algn="l">
              <a:lnSpc>
                <a:spcPts val="1320"/>
              </a:lnSpc>
              <a:spcAft>
                <a:spcPts val="300"/>
              </a:spcAft>
              <a:defRPr sz="1100" b="0">
                <a:solidFill>
                  <a:srgbClr val="CCDDEE"/>
                </a:solidFill>
                <a:latin typeface="Calibri"/>
              </a:defRPr>
            </a:pPr>
            <a:r>
              <a:t>Without strong governance and interpretive capacity, information availability does not translate into better outcomes.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D3A"/>
        </a:solidFill>
        <a:effectLst/>
      </p:bgPr>
    </p:bg>
    <p:spTree>
      <p:nvGrpSpPr>
        <p:cNvPr id="1" name=""/>
        <p:cNvGrpSpPr/>
        <p:nvPr/>
      </p:nvGrpSpPr>
      <p:grpSpPr>
        <a:xfrm>
          <a:off x="0" y="0"/>
          <a:ext cx="0" cy="0"/>
          <a:chOff x="0" y="0"/>
          <a:chExt cx="0" cy="0"/>
        </a:xfrm>
      </p:grpSpPr>
      <p:sp>
        <p:nvSpPr>
          <p:cNvPr id="2" name="Rectangle 1"/>
          <p:cNvSpPr/>
          <p:nvPr/>
        </p:nvSpPr>
        <p:spPr>
          <a:xfrm>
            <a:off x="731520" y="640080"/>
            <a:ext cx="2286000" cy="5029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777240"/>
            <a:ext cx="9144000" cy="640080"/>
          </a:xfrm>
          <a:prstGeom prst="rect">
            <a:avLst/>
          </a:prstGeom>
          <a:noFill/>
        </p:spPr>
        <p:txBody>
          <a:bodyPr wrap="square">
            <a:spAutoFit/>
          </a:bodyPr>
          <a:lstStyle/>
          <a:p>
            <a:pPr algn="l">
              <a:lnSpc>
                <a:spcPts val="3600"/>
              </a:lnSpc>
              <a:defRPr sz="3000" b="1">
                <a:solidFill>
                  <a:srgbClr val="E8A838"/>
                </a:solidFill>
                <a:latin typeface="Calibri"/>
              </a:defRPr>
            </a:pPr>
            <a:r>
              <a:t>Hypothesis Results: H3 &amp; H4</a:t>
            </a:r>
          </a:p>
        </p:txBody>
      </p:sp>
      <p:sp>
        <p:nvSpPr>
          <p:cNvPr id="4" name="Rectangle 3"/>
          <p:cNvSpPr/>
          <p:nvPr/>
        </p:nvSpPr>
        <p:spPr>
          <a:xfrm>
            <a:off x="0" y="6784848"/>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47120" y="6446520"/>
            <a:ext cx="731520" cy="320040"/>
          </a:xfrm>
          <a:prstGeom prst="rect">
            <a:avLst/>
          </a:prstGeom>
          <a:noFill/>
        </p:spPr>
        <p:txBody>
          <a:bodyPr wrap="none">
            <a:spAutoFit/>
          </a:bodyPr>
          <a:lstStyle/>
          <a:p>
            <a:pPr algn="r">
              <a:defRPr sz="1000">
                <a:solidFill>
                  <a:srgbClr val="99AABB"/>
                </a:solidFill>
              </a:defRPr>
            </a:pPr>
            <a:r>
              <a:t>9/14</a:t>
            </a:r>
          </a:p>
        </p:txBody>
      </p:sp>
      <p:sp>
        <p:nvSpPr>
          <p:cNvPr id="6" name="Rounded Rectangle 5"/>
          <p:cNvSpPr/>
          <p:nvPr/>
        </p:nvSpPr>
        <p:spPr>
          <a:xfrm>
            <a:off x="731520" y="1920240"/>
            <a:ext cx="5303520" cy="4572000"/>
          </a:xfrm>
          <a:prstGeom prst="roundRect">
            <a:avLst/>
          </a:prstGeom>
          <a:solidFill>
            <a:srgbClr val="132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920240"/>
            <a:ext cx="5303520" cy="502920"/>
          </a:xfrm>
          <a:prstGeom prst="roundRect">
            <a:avLst/>
          </a:prstGeom>
          <a:solidFill>
            <a:srgbClr val="5BA0D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B1D3A"/>
                </a:solidFill>
                <a:latin typeface="Calibri"/>
              </a:defRPr>
            </a:pPr>
            <a:r>
              <a:t>H3: Timely Risk Escalation → RME</a:t>
            </a:r>
          </a:p>
        </p:txBody>
      </p:sp>
      <p:sp>
        <p:nvSpPr>
          <p:cNvPr id="8" name="TextBox 7"/>
          <p:cNvSpPr txBox="1"/>
          <p:nvPr/>
        </p:nvSpPr>
        <p:spPr>
          <a:xfrm>
            <a:off x="1005840" y="2606040"/>
            <a:ext cx="4754880" cy="3657600"/>
          </a:xfrm>
          <a:prstGeom prst="rect">
            <a:avLst/>
          </a:prstGeom>
          <a:noFill/>
        </p:spPr>
        <p:txBody>
          <a:bodyPr wrap="square">
            <a:spAutoFit/>
          </a:bodyPr>
          <a:lstStyle/>
          <a:p>
            <a:pPr algn="l">
              <a:lnSpc>
                <a:spcPts val="1320"/>
              </a:lnSpc>
              <a:spcAft>
                <a:spcPts val="300"/>
              </a:spcAft>
              <a:defRPr sz="1100" b="1">
                <a:solidFill>
                  <a:srgbClr val="F39C12"/>
                </a:solidFill>
                <a:latin typeface="Calibri"/>
              </a:defRPr>
            </a:pPr>
            <a:r>
              <a:t>⚠️  SUPPORTED (Modest Effect)</a:t>
            </a:r>
          </a:p>
          <a:p>
            <a:pPr algn="l">
              <a:lnSpc>
                <a:spcPts val="1320"/>
              </a:lnSpc>
              <a:spcAft>
                <a:spcPts val="300"/>
              </a:spcAft>
              <a:defRPr sz="1100" b="0">
                <a:solidFill>
                  <a:srgbClr val="CCDDEE"/>
                </a:solidFill>
                <a:latin typeface="Calibri"/>
              </a:defRPr>
            </a:pPr>
            <a:endParaRPr/>
          </a:p>
          <a:p>
            <a:pPr algn="l">
              <a:lnSpc>
                <a:spcPts val="1320"/>
              </a:lnSpc>
              <a:spcAft>
                <a:spcPts val="300"/>
              </a:spcAft>
              <a:defRPr sz="1100" b="1">
                <a:solidFill>
                  <a:srgbClr val="FFFFFF"/>
                </a:solidFill>
                <a:latin typeface="Calibri"/>
              </a:defRPr>
            </a:pPr>
            <a:r>
              <a:t>β = 0.129  |  C.R. = 2.283  |  p = 0.022</a:t>
            </a:r>
          </a:p>
          <a:p>
            <a:pPr algn="l">
              <a:lnSpc>
                <a:spcPts val="1320"/>
              </a:lnSpc>
              <a:spcAft>
                <a:spcPts val="300"/>
              </a:spcAft>
              <a:defRPr sz="1100" b="0">
                <a:solidFill>
                  <a:srgbClr val="CCDDEE"/>
                </a:solidFill>
                <a:latin typeface="Calibri"/>
              </a:defRPr>
            </a:pPr>
            <a:endParaRPr/>
          </a:p>
          <a:p>
            <a:pPr algn="l">
              <a:lnSpc>
                <a:spcPts val="1320"/>
              </a:lnSpc>
              <a:spcAft>
                <a:spcPts val="300"/>
              </a:spcAft>
              <a:defRPr sz="1100" b="1">
                <a:solidFill>
                  <a:srgbClr val="E8A838"/>
                </a:solidFill>
                <a:latin typeface="Calibri"/>
              </a:defRPr>
            </a:pPr>
            <a:r>
              <a:t>Model Fit:</a:t>
            </a:r>
          </a:p>
          <a:p>
            <a:pPr algn="l">
              <a:lnSpc>
                <a:spcPts val="1320"/>
              </a:lnSpc>
              <a:spcAft>
                <a:spcPts val="300"/>
              </a:spcAft>
              <a:defRPr sz="1100" b="0">
                <a:solidFill>
                  <a:srgbClr val="CCDDEE"/>
                </a:solidFill>
                <a:latin typeface="Calibri"/>
              </a:defRPr>
            </a:pPr>
            <a:r>
              <a:t>CMIN/DF = 1.326 | CFI = 0.995</a:t>
            </a:r>
          </a:p>
          <a:p>
            <a:pPr algn="l">
              <a:lnSpc>
                <a:spcPts val="1320"/>
              </a:lnSpc>
              <a:spcAft>
                <a:spcPts val="300"/>
              </a:spcAft>
              <a:defRPr sz="1100" b="0">
                <a:solidFill>
                  <a:srgbClr val="CCDDEE"/>
                </a:solidFill>
                <a:latin typeface="Calibri"/>
              </a:defRPr>
            </a:pPr>
            <a:r>
              <a:t>RMSEA = 0.029</a:t>
            </a:r>
          </a:p>
          <a:p>
            <a:pPr algn="l">
              <a:lnSpc>
                <a:spcPts val="1320"/>
              </a:lnSpc>
              <a:spcAft>
                <a:spcPts val="300"/>
              </a:spcAft>
              <a:defRPr sz="1100" b="0">
                <a:solidFill>
                  <a:srgbClr val="CCDDEE"/>
                </a:solidFill>
                <a:latin typeface="Calibri"/>
              </a:defRPr>
            </a:pPr>
            <a:endParaRPr/>
          </a:p>
          <a:p>
            <a:pPr algn="l">
              <a:lnSpc>
                <a:spcPts val="1320"/>
              </a:lnSpc>
              <a:spcAft>
                <a:spcPts val="300"/>
              </a:spcAft>
              <a:defRPr sz="1100" b="1">
                <a:solidFill>
                  <a:srgbClr val="E8A838"/>
                </a:solidFill>
                <a:latin typeface="Calibri"/>
              </a:defRPr>
            </a:pPr>
            <a:r>
              <a:t>Interpretation:</a:t>
            </a:r>
          </a:p>
          <a:p>
            <a:pPr algn="l">
              <a:lnSpc>
                <a:spcPts val="1320"/>
              </a:lnSpc>
              <a:spcAft>
                <a:spcPts val="300"/>
              </a:spcAft>
              <a:defRPr sz="1100" b="0">
                <a:solidFill>
                  <a:srgbClr val="CCDDEE"/>
                </a:solidFill>
                <a:latin typeface="Calibri"/>
              </a:defRPr>
            </a:pPr>
            <a:r>
              <a:t>Positive but modest direct effect. In hybrid settings, Agile teams manage risks locally, reducing the need for frequent formal escalation.</a:t>
            </a:r>
          </a:p>
          <a:p>
            <a:pPr algn="l">
              <a:lnSpc>
                <a:spcPts val="1320"/>
              </a:lnSpc>
              <a:spcAft>
                <a:spcPts val="300"/>
              </a:spcAft>
              <a:defRPr sz="1100" b="0">
                <a:solidFill>
                  <a:srgbClr val="CCDDEE"/>
                </a:solidFill>
                <a:latin typeface="Calibri"/>
              </a:defRPr>
            </a:pPr>
            <a:endParaRPr/>
          </a:p>
          <a:p>
            <a:pPr algn="l">
              <a:lnSpc>
                <a:spcPts val="1320"/>
              </a:lnSpc>
              <a:spcAft>
                <a:spcPts val="300"/>
              </a:spcAft>
              <a:defRPr sz="1100" b="0">
                <a:solidFill>
                  <a:srgbClr val="CCDDEE"/>
                </a:solidFill>
                <a:latin typeface="Calibri"/>
              </a:defRPr>
            </a:pPr>
            <a:r>
              <a:t>Escalation effectiveness depends on appropriateness and quality rather than on speed alone.</a:t>
            </a:r>
          </a:p>
        </p:txBody>
      </p:sp>
      <p:sp>
        <p:nvSpPr>
          <p:cNvPr id="9" name="Rounded Rectangle 8"/>
          <p:cNvSpPr/>
          <p:nvPr/>
        </p:nvSpPr>
        <p:spPr>
          <a:xfrm>
            <a:off x="6309360" y="1920240"/>
            <a:ext cx="5303520" cy="4572000"/>
          </a:xfrm>
          <a:prstGeom prst="roundRect">
            <a:avLst/>
          </a:prstGeom>
          <a:solidFill>
            <a:srgbClr val="132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309360" y="1920240"/>
            <a:ext cx="5303520" cy="502920"/>
          </a:xfrm>
          <a:prstGeom prst="roundRect">
            <a:avLst/>
          </a:prstGeom>
          <a:solidFill>
            <a:srgbClr val="1B4F8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H4: Governance Consistency → RME</a:t>
            </a:r>
          </a:p>
        </p:txBody>
      </p:sp>
      <p:sp>
        <p:nvSpPr>
          <p:cNvPr id="11" name="TextBox 10"/>
          <p:cNvSpPr txBox="1"/>
          <p:nvPr/>
        </p:nvSpPr>
        <p:spPr>
          <a:xfrm>
            <a:off x="6583680" y="2606040"/>
            <a:ext cx="4754880" cy="3657600"/>
          </a:xfrm>
          <a:prstGeom prst="rect">
            <a:avLst/>
          </a:prstGeom>
          <a:noFill/>
        </p:spPr>
        <p:txBody>
          <a:bodyPr wrap="square">
            <a:spAutoFit/>
          </a:bodyPr>
          <a:lstStyle/>
          <a:p>
            <a:pPr algn="l">
              <a:lnSpc>
                <a:spcPts val="1320"/>
              </a:lnSpc>
              <a:spcAft>
                <a:spcPts val="300"/>
              </a:spcAft>
              <a:defRPr sz="1100" b="1">
                <a:solidFill>
                  <a:srgbClr val="27AE60"/>
                </a:solidFill>
                <a:latin typeface="Calibri"/>
              </a:defRPr>
            </a:pPr>
            <a:r>
              <a:t>✅  SUPPORTED</a:t>
            </a:r>
          </a:p>
          <a:p>
            <a:pPr algn="l">
              <a:lnSpc>
                <a:spcPts val="1320"/>
              </a:lnSpc>
              <a:spcAft>
                <a:spcPts val="300"/>
              </a:spcAft>
              <a:defRPr sz="1100" b="0">
                <a:solidFill>
                  <a:srgbClr val="CCDDEE"/>
                </a:solidFill>
                <a:latin typeface="Calibri"/>
              </a:defRPr>
            </a:pPr>
            <a:endParaRPr/>
          </a:p>
          <a:p>
            <a:pPr algn="l">
              <a:lnSpc>
                <a:spcPts val="1320"/>
              </a:lnSpc>
              <a:spcAft>
                <a:spcPts val="300"/>
              </a:spcAft>
              <a:defRPr sz="1100" b="1">
                <a:solidFill>
                  <a:srgbClr val="FFFFFF"/>
                </a:solidFill>
                <a:latin typeface="Calibri"/>
              </a:defRPr>
            </a:pPr>
            <a:r>
              <a:t>β = 0.397  |  C.R. = 6.869  |  p &lt; 0.001</a:t>
            </a:r>
          </a:p>
          <a:p>
            <a:pPr algn="l">
              <a:lnSpc>
                <a:spcPts val="1320"/>
              </a:lnSpc>
              <a:spcAft>
                <a:spcPts val="300"/>
              </a:spcAft>
              <a:defRPr sz="1100" b="0">
                <a:solidFill>
                  <a:srgbClr val="CCDDEE"/>
                </a:solidFill>
                <a:latin typeface="Calibri"/>
              </a:defRPr>
            </a:pPr>
            <a:endParaRPr/>
          </a:p>
          <a:p>
            <a:pPr algn="l">
              <a:lnSpc>
                <a:spcPts val="1320"/>
              </a:lnSpc>
              <a:spcAft>
                <a:spcPts val="300"/>
              </a:spcAft>
              <a:defRPr sz="1100" b="1">
                <a:solidFill>
                  <a:srgbClr val="E8A838"/>
                </a:solidFill>
                <a:latin typeface="Calibri"/>
              </a:defRPr>
            </a:pPr>
            <a:r>
              <a:t>Model Fit:</a:t>
            </a:r>
          </a:p>
          <a:p>
            <a:pPr algn="l">
              <a:lnSpc>
                <a:spcPts val="1320"/>
              </a:lnSpc>
              <a:spcAft>
                <a:spcPts val="300"/>
              </a:spcAft>
              <a:defRPr sz="1100" b="0">
                <a:solidFill>
                  <a:srgbClr val="CCDDEE"/>
                </a:solidFill>
                <a:latin typeface="Calibri"/>
              </a:defRPr>
            </a:pPr>
            <a:r>
              <a:t>CMIN/DF = 1.716 | CFI = 0.985</a:t>
            </a:r>
          </a:p>
          <a:p>
            <a:pPr algn="l">
              <a:lnSpc>
                <a:spcPts val="1320"/>
              </a:lnSpc>
              <a:spcAft>
                <a:spcPts val="300"/>
              </a:spcAft>
              <a:defRPr sz="1100" b="0">
                <a:solidFill>
                  <a:srgbClr val="CCDDEE"/>
                </a:solidFill>
                <a:latin typeface="Calibri"/>
              </a:defRPr>
            </a:pPr>
            <a:r>
              <a:t>RMSEA = 0.043</a:t>
            </a:r>
          </a:p>
          <a:p>
            <a:pPr algn="l">
              <a:lnSpc>
                <a:spcPts val="1320"/>
              </a:lnSpc>
              <a:spcAft>
                <a:spcPts val="300"/>
              </a:spcAft>
              <a:defRPr sz="1100" b="0">
                <a:solidFill>
                  <a:srgbClr val="CCDDEE"/>
                </a:solidFill>
                <a:latin typeface="Calibri"/>
              </a:defRPr>
            </a:pPr>
            <a:endParaRPr/>
          </a:p>
          <a:p>
            <a:pPr algn="l">
              <a:lnSpc>
                <a:spcPts val="1320"/>
              </a:lnSpc>
              <a:spcAft>
                <a:spcPts val="300"/>
              </a:spcAft>
              <a:defRPr sz="1100" b="1">
                <a:solidFill>
                  <a:srgbClr val="E8A838"/>
                </a:solidFill>
                <a:latin typeface="Calibri"/>
              </a:defRPr>
            </a:pPr>
            <a:r>
              <a:t>Interpretation:</a:t>
            </a:r>
          </a:p>
          <a:p>
            <a:pPr algn="l">
              <a:lnSpc>
                <a:spcPts val="1320"/>
              </a:lnSpc>
              <a:spcAft>
                <a:spcPts val="300"/>
              </a:spcAft>
              <a:defRPr sz="1100" b="0">
                <a:solidFill>
                  <a:srgbClr val="CCDDEE"/>
                </a:solidFill>
                <a:latin typeface="Calibri"/>
              </a:defRPr>
            </a:pPr>
            <a:r>
              <a:t>Governance Consistency is the structural backbone that stabilizes risk management across diverse execution approaches.</a:t>
            </a:r>
          </a:p>
          <a:p>
            <a:pPr algn="l">
              <a:lnSpc>
                <a:spcPts val="1320"/>
              </a:lnSpc>
              <a:spcAft>
                <a:spcPts val="300"/>
              </a:spcAft>
              <a:defRPr sz="1100" b="0">
                <a:solidFill>
                  <a:srgbClr val="CCDDEE"/>
                </a:solidFill>
                <a:latin typeface="Calibri"/>
              </a:defRPr>
            </a:pPr>
            <a:endParaRPr/>
          </a:p>
          <a:p>
            <a:pPr algn="l">
              <a:lnSpc>
                <a:spcPts val="1320"/>
              </a:lnSpc>
              <a:spcAft>
                <a:spcPts val="300"/>
              </a:spcAft>
              <a:defRPr sz="1100" b="0">
                <a:solidFill>
                  <a:srgbClr val="CCDDEE"/>
                </a:solidFill>
                <a:latin typeface="Calibri"/>
              </a:defRPr>
            </a:pPr>
            <a:r>
              <a:t>Uniform application of policies, decision rights, and accountability mechanisms reduces ambiguity and enhances coordination.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D3A"/>
        </a:solidFill>
        <a:effectLst/>
      </p:bgPr>
    </p:bg>
    <p:spTree>
      <p:nvGrpSpPr>
        <p:cNvPr id="1" name=""/>
        <p:cNvGrpSpPr/>
        <p:nvPr/>
      </p:nvGrpSpPr>
      <p:grpSpPr>
        <a:xfrm>
          <a:off x="0" y="0"/>
          <a:ext cx="0" cy="0"/>
          <a:chOff x="0" y="0"/>
          <a:chExt cx="0" cy="0"/>
        </a:xfrm>
      </p:grpSpPr>
      <p:sp>
        <p:nvSpPr>
          <p:cNvPr id="2" name="Rectangle 1"/>
          <p:cNvSpPr/>
          <p:nvPr/>
        </p:nvSpPr>
        <p:spPr>
          <a:xfrm>
            <a:off x="731520" y="640080"/>
            <a:ext cx="2286000" cy="5029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777240"/>
            <a:ext cx="9144000" cy="640080"/>
          </a:xfrm>
          <a:prstGeom prst="rect">
            <a:avLst/>
          </a:prstGeom>
          <a:noFill/>
        </p:spPr>
        <p:txBody>
          <a:bodyPr wrap="square">
            <a:spAutoFit/>
          </a:bodyPr>
          <a:lstStyle/>
          <a:p>
            <a:pPr algn="l">
              <a:lnSpc>
                <a:spcPts val="3600"/>
              </a:lnSpc>
              <a:defRPr sz="3000" b="1">
                <a:solidFill>
                  <a:srgbClr val="E8A838"/>
                </a:solidFill>
                <a:latin typeface="Calibri"/>
              </a:defRPr>
            </a:pPr>
            <a:r>
              <a:t>Hypothesis 5 – Key Finding</a:t>
            </a:r>
          </a:p>
        </p:txBody>
      </p:sp>
      <p:sp>
        <p:nvSpPr>
          <p:cNvPr id="4" name="TextBox 3"/>
          <p:cNvSpPr txBox="1"/>
          <p:nvPr/>
        </p:nvSpPr>
        <p:spPr>
          <a:xfrm>
            <a:off x="731520" y="1325880"/>
            <a:ext cx="9144000" cy="365760"/>
          </a:xfrm>
          <a:prstGeom prst="rect">
            <a:avLst/>
          </a:prstGeom>
          <a:noFill/>
        </p:spPr>
        <p:txBody>
          <a:bodyPr wrap="square">
            <a:spAutoFit/>
          </a:bodyPr>
          <a:lstStyle/>
          <a:p>
            <a:pPr algn="l">
              <a:lnSpc>
                <a:spcPts val="1560"/>
              </a:lnSpc>
              <a:defRPr sz="1300" b="0">
                <a:solidFill>
                  <a:srgbClr val="99AABB"/>
                </a:solidFill>
                <a:latin typeface="Calibri"/>
              </a:defRPr>
            </a:pPr>
            <a:r>
              <a:t>AI-Driven Risk Analytics Capability → Risk Management Effectiveness</a:t>
            </a:r>
          </a:p>
        </p:txBody>
      </p:sp>
      <p:sp>
        <p:nvSpPr>
          <p:cNvPr id="5" name="Rectangle 4"/>
          <p:cNvSpPr/>
          <p:nvPr/>
        </p:nvSpPr>
        <p:spPr>
          <a:xfrm>
            <a:off x="0" y="6784848"/>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731520" cy="320040"/>
          </a:xfrm>
          <a:prstGeom prst="rect">
            <a:avLst/>
          </a:prstGeom>
          <a:noFill/>
        </p:spPr>
        <p:txBody>
          <a:bodyPr wrap="none">
            <a:spAutoFit/>
          </a:bodyPr>
          <a:lstStyle/>
          <a:p>
            <a:pPr algn="r">
              <a:defRPr sz="1000">
                <a:solidFill>
                  <a:srgbClr val="99AABB"/>
                </a:solidFill>
              </a:defRPr>
            </a:pPr>
            <a:r>
              <a:t>10/14</a:t>
            </a:r>
          </a:p>
        </p:txBody>
      </p:sp>
      <p:sp>
        <p:nvSpPr>
          <p:cNvPr id="7" name="Rounded Rectangle 6"/>
          <p:cNvSpPr/>
          <p:nvPr/>
        </p:nvSpPr>
        <p:spPr>
          <a:xfrm>
            <a:off x="731520" y="1920240"/>
            <a:ext cx="6858000" cy="4572000"/>
          </a:xfrm>
          <a:prstGeom prst="roundRect">
            <a:avLst/>
          </a:prstGeom>
          <a:solidFill>
            <a:srgbClr val="132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103120"/>
            <a:ext cx="5943600" cy="548640"/>
          </a:xfrm>
          <a:prstGeom prst="rect">
            <a:avLst/>
          </a:prstGeom>
          <a:noFill/>
        </p:spPr>
        <p:txBody>
          <a:bodyPr wrap="square">
            <a:spAutoFit/>
          </a:bodyPr>
          <a:lstStyle/>
          <a:p>
            <a:pPr algn="ctr">
              <a:lnSpc>
                <a:spcPts val="2640"/>
              </a:lnSpc>
              <a:defRPr sz="2200" b="1">
                <a:solidFill>
                  <a:srgbClr val="27AE60"/>
                </a:solidFill>
                <a:latin typeface="Calibri"/>
              </a:defRPr>
            </a:pPr>
            <a:r>
              <a:t>✅  H5 STRONGLY SUPPORTED</a:t>
            </a:r>
          </a:p>
        </p:txBody>
      </p:sp>
      <p:sp>
        <p:nvSpPr>
          <p:cNvPr id="9" name="Rectangle 8"/>
          <p:cNvSpPr/>
          <p:nvPr/>
        </p:nvSpPr>
        <p:spPr>
          <a:xfrm>
            <a:off x="1371600" y="2788920"/>
            <a:ext cx="5486400" cy="182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2926080"/>
            <a:ext cx="5943600" cy="548640"/>
          </a:xfrm>
          <a:prstGeom prst="rect">
            <a:avLst/>
          </a:prstGeom>
          <a:noFill/>
        </p:spPr>
        <p:txBody>
          <a:bodyPr wrap="square">
            <a:spAutoFit/>
          </a:bodyPr>
          <a:lstStyle/>
          <a:p>
            <a:pPr algn="ctr">
              <a:lnSpc>
                <a:spcPts val="2160"/>
              </a:lnSpc>
              <a:defRPr sz="1800" b="1">
                <a:solidFill>
                  <a:srgbClr val="FFFFFF"/>
                </a:solidFill>
                <a:latin typeface="Calibri"/>
              </a:defRPr>
            </a:pPr>
            <a:r>
              <a:t>β = 0.449   |   C.R. = 7.697   |   p &lt; 0.001</a:t>
            </a:r>
          </a:p>
        </p:txBody>
      </p:sp>
      <p:sp>
        <p:nvSpPr>
          <p:cNvPr id="11" name="TextBox 10"/>
          <p:cNvSpPr txBox="1"/>
          <p:nvPr/>
        </p:nvSpPr>
        <p:spPr>
          <a:xfrm>
            <a:off x="1097280" y="3657600"/>
            <a:ext cx="5943600" cy="2743200"/>
          </a:xfrm>
          <a:prstGeom prst="rect">
            <a:avLst/>
          </a:prstGeom>
          <a:noFill/>
        </p:spPr>
        <p:txBody>
          <a:bodyPr wrap="square">
            <a:spAutoFit/>
          </a:bodyPr>
          <a:lstStyle/>
          <a:p>
            <a:pPr algn="l">
              <a:lnSpc>
                <a:spcPts val="1500"/>
              </a:lnSpc>
              <a:spcAft>
                <a:spcPts val="300"/>
              </a:spcAft>
              <a:defRPr sz="1200" b="1">
                <a:solidFill>
                  <a:srgbClr val="E8A838"/>
                </a:solidFill>
                <a:latin typeface="Calibri"/>
              </a:defRPr>
            </a:pPr>
            <a:r>
              <a:t>Model Fit:</a:t>
            </a:r>
          </a:p>
          <a:p>
            <a:pPr algn="l">
              <a:lnSpc>
                <a:spcPts val="1500"/>
              </a:lnSpc>
              <a:spcAft>
                <a:spcPts val="300"/>
              </a:spcAft>
              <a:defRPr sz="1200" b="0">
                <a:solidFill>
                  <a:srgbClr val="CCDDEE"/>
                </a:solidFill>
                <a:latin typeface="Calibri"/>
              </a:defRPr>
            </a:pPr>
            <a:r>
              <a:t>CMIN/DF = 1.995  |  NFI = 0.965  |  CFI = 0.982  |  RMSEA = 0.051</a:t>
            </a:r>
          </a:p>
          <a:p>
            <a:pPr algn="l">
              <a:lnSpc>
                <a:spcPts val="1500"/>
              </a:lnSpc>
              <a:spcAft>
                <a:spcPts val="300"/>
              </a:spcAft>
              <a:defRPr sz="1200" b="0">
                <a:solidFill>
                  <a:srgbClr val="CCDDEE"/>
                </a:solidFill>
                <a:latin typeface="Calibri"/>
              </a:defRPr>
            </a:pPr>
            <a:endParaRPr/>
          </a:p>
          <a:p>
            <a:pPr algn="l">
              <a:lnSpc>
                <a:spcPts val="1500"/>
              </a:lnSpc>
              <a:spcAft>
                <a:spcPts val="300"/>
              </a:spcAft>
              <a:defRPr sz="1200" b="1">
                <a:solidFill>
                  <a:srgbClr val="E8A838"/>
                </a:solidFill>
                <a:latin typeface="Calibri"/>
              </a:defRPr>
            </a:pPr>
            <a:r>
              <a:t>Key Insight:</a:t>
            </a:r>
          </a:p>
          <a:p>
            <a:pPr algn="l">
              <a:lnSpc>
                <a:spcPts val="1500"/>
              </a:lnSpc>
              <a:spcAft>
                <a:spcPts val="300"/>
              </a:spcAft>
              <a:defRPr sz="1200" b="0">
                <a:solidFill>
                  <a:srgbClr val="CCDDEE"/>
                </a:solidFill>
                <a:latin typeface="Calibri"/>
              </a:defRPr>
            </a:pPr>
            <a:r>
              <a:t>AI-Driven Risk Analytics is one of the STRONGEST predictors of Risk Management Effectiveness among all variables tested.</a:t>
            </a:r>
          </a:p>
          <a:p>
            <a:pPr algn="l">
              <a:lnSpc>
                <a:spcPts val="1500"/>
              </a:lnSpc>
              <a:spcAft>
                <a:spcPts val="300"/>
              </a:spcAft>
              <a:defRPr sz="1200" b="0">
                <a:solidFill>
                  <a:srgbClr val="CCDDEE"/>
                </a:solidFill>
                <a:latin typeface="Calibri"/>
              </a:defRPr>
            </a:pPr>
            <a:endParaRPr/>
          </a:p>
          <a:p>
            <a:pPr algn="l">
              <a:lnSpc>
                <a:spcPts val="1500"/>
              </a:lnSpc>
              <a:spcAft>
                <a:spcPts val="300"/>
              </a:spcAft>
              <a:defRPr sz="1200" b="0">
                <a:solidFill>
                  <a:srgbClr val="CCDDEE"/>
                </a:solidFill>
                <a:latin typeface="Calibri"/>
              </a:defRPr>
            </a:pPr>
            <a:r>
              <a:t>AI functions as an organizational capability that enhances predictive foresight, anomaly detection, real-time monitoring, and automated risk prioritization.</a:t>
            </a:r>
          </a:p>
          <a:p>
            <a:pPr algn="l">
              <a:lnSpc>
                <a:spcPts val="1500"/>
              </a:lnSpc>
              <a:spcAft>
                <a:spcPts val="300"/>
              </a:spcAft>
              <a:defRPr sz="1200" b="0">
                <a:solidFill>
                  <a:srgbClr val="CCDDEE"/>
                </a:solidFill>
                <a:latin typeface="Calibri"/>
              </a:defRPr>
            </a:pPr>
            <a:endParaRPr/>
          </a:p>
          <a:p>
            <a:pPr algn="l">
              <a:lnSpc>
                <a:spcPts val="1500"/>
              </a:lnSpc>
              <a:spcAft>
                <a:spcPts val="300"/>
              </a:spcAft>
              <a:defRPr sz="1200" b="0">
                <a:solidFill>
                  <a:srgbClr val="CCDDEE"/>
                </a:solidFill>
                <a:latin typeface="Calibri"/>
              </a:defRPr>
            </a:pPr>
            <a:r>
              <a:t>It complements and amplifies governance structures rather than replacing them.</a:t>
            </a:r>
          </a:p>
        </p:txBody>
      </p:sp>
      <p:sp>
        <p:nvSpPr>
          <p:cNvPr id="12" name="Rounded Rectangle 11"/>
          <p:cNvSpPr/>
          <p:nvPr/>
        </p:nvSpPr>
        <p:spPr>
          <a:xfrm>
            <a:off x="8046720" y="2103120"/>
            <a:ext cx="3566160" cy="1188720"/>
          </a:xfrm>
          <a:prstGeom prst="roundRect">
            <a:avLst/>
          </a:prstGeom>
          <a:solidFill>
            <a:srgbClr val="16A08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Strongest Predictor</a:t>
            </a:r>
            <a:br/>
            <a:r>
              <a:t>Among All 5 Variables</a:t>
            </a:r>
          </a:p>
        </p:txBody>
      </p:sp>
      <p:sp>
        <p:nvSpPr>
          <p:cNvPr id="13" name="Rounded Rectangle 12"/>
          <p:cNvSpPr/>
          <p:nvPr/>
        </p:nvSpPr>
        <p:spPr>
          <a:xfrm>
            <a:off x="8046720" y="3566160"/>
            <a:ext cx="3566160" cy="1188720"/>
          </a:xfrm>
          <a:prstGeom prst="roundRect">
            <a:avLst/>
          </a:prstGeom>
          <a:solidFill>
            <a:srgbClr val="1B4F8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Strategic Capability</a:t>
            </a:r>
            <a:br/>
            <a:r>
              <a:t>Not Just a Tech Tool</a:t>
            </a:r>
          </a:p>
        </p:txBody>
      </p:sp>
      <p:sp>
        <p:nvSpPr>
          <p:cNvPr id="14" name="Rounded Rectangle 13"/>
          <p:cNvSpPr/>
          <p:nvPr/>
        </p:nvSpPr>
        <p:spPr>
          <a:xfrm>
            <a:off x="8046720" y="5029200"/>
            <a:ext cx="3566160" cy="1188720"/>
          </a:xfrm>
          <a:prstGeom prst="roundRect">
            <a:avLst/>
          </a:prstGeom>
          <a:solidFill>
            <a:srgbClr val="132E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Amplifies Governance</a:t>
            </a:r>
            <a:br/>
            <a:r>
              <a:t>&amp; Decision Quality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D3A"/>
        </a:solidFill>
        <a:effectLst/>
      </p:bgPr>
    </p:bg>
    <p:spTree>
      <p:nvGrpSpPr>
        <p:cNvPr id="1" name=""/>
        <p:cNvGrpSpPr/>
        <p:nvPr/>
      </p:nvGrpSpPr>
      <p:grpSpPr>
        <a:xfrm>
          <a:off x="0" y="0"/>
          <a:ext cx="0" cy="0"/>
          <a:chOff x="0" y="0"/>
          <a:chExt cx="0" cy="0"/>
        </a:xfrm>
      </p:grpSpPr>
      <p:sp>
        <p:nvSpPr>
          <p:cNvPr id="2" name="Rectangle 1"/>
          <p:cNvSpPr/>
          <p:nvPr/>
        </p:nvSpPr>
        <p:spPr>
          <a:xfrm>
            <a:off x="731520" y="640080"/>
            <a:ext cx="2286000" cy="5029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777240"/>
            <a:ext cx="9144000" cy="640080"/>
          </a:xfrm>
          <a:prstGeom prst="rect">
            <a:avLst/>
          </a:prstGeom>
          <a:noFill/>
        </p:spPr>
        <p:txBody>
          <a:bodyPr wrap="square">
            <a:spAutoFit/>
          </a:bodyPr>
          <a:lstStyle/>
          <a:p>
            <a:pPr algn="l">
              <a:lnSpc>
                <a:spcPts val="3600"/>
              </a:lnSpc>
              <a:defRPr sz="3000" b="1">
                <a:solidFill>
                  <a:srgbClr val="E8A838"/>
                </a:solidFill>
                <a:latin typeface="Calibri"/>
              </a:defRPr>
            </a:pPr>
            <a:r>
              <a:t>Summary of All Hypothesis Results</a:t>
            </a:r>
          </a:p>
        </p:txBody>
      </p:sp>
      <p:sp>
        <p:nvSpPr>
          <p:cNvPr id="4" name="Rectangle 3"/>
          <p:cNvSpPr/>
          <p:nvPr/>
        </p:nvSpPr>
        <p:spPr>
          <a:xfrm>
            <a:off x="0" y="6784848"/>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47120" y="6446520"/>
            <a:ext cx="731520" cy="320040"/>
          </a:xfrm>
          <a:prstGeom prst="rect">
            <a:avLst/>
          </a:prstGeom>
          <a:noFill/>
        </p:spPr>
        <p:txBody>
          <a:bodyPr wrap="none">
            <a:spAutoFit/>
          </a:bodyPr>
          <a:lstStyle/>
          <a:p>
            <a:pPr algn="r">
              <a:defRPr sz="1000">
                <a:solidFill>
                  <a:srgbClr val="99AABB"/>
                </a:solidFill>
              </a:defRPr>
            </a:pPr>
            <a:r>
              <a:t>11/14</a:t>
            </a:r>
          </a:p>
        </p:txBody>
      </p:sp>
      <p:pic>
        <p:nvPicPr>
          <p:cNvPr id="6" name="Picture 5" descr="hypothesis_comparison.png"/>
          <p:cNvPicPr>
            <a:picLocks noChangeAspect="1"/>
          </p:cNvPicPr>
          <p:nvPr/>
        </p:nvPicPr>
        <p:blipFill>
          <a:blip r:embed="rId2"/>
          <a:stretch>
            <a:fillRect/>
          </a:stretch>
        </p:blipFill>
        <p:spPr>
          <a:xfrm>
            <a:off x="182880" y="1645920"/>
            <a:ext cx="7315200" cy="4389120"/>
          </a:xfrm>
          <a:prstGeom prst="rect">
            <a:avLst/>
          </a:prstGeom>
        </p:spPr>
      </p:pic>
      <p:sp>
        <p:nvSpPr>
          <p:cNvPr id="7" name="Rounded Rectangle 6"/>
          <p:cNvSpPr/>
          <p:nvPr/>
        </p:nvSpPr>
        <p:spPr>
          <a:xfrm>
            <a:off x="7772400" y="1828800"/>
            <a:ext cx="4023360" cy="4206240"/>
          </a:xfrm>
          <a:prstGeom prst="roundRect">
            <a:avLst/>
          </a:prstGeom>
          <a:solidFill>
            <a:srgbClr val="132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79" y="1965960"/>
            <a:ext cx="3657600" cy="320040"/>
          </a:xfrm>
          <a:prstGeom prst="rect">
            <a:avLst/>
          </a:prstGeom>
          <a:noFill/>
        </p:spPr>
        <p:txBody>
          <a:bodyPr wrap="square">
            <a:spAutoFit/>
          </a:bodyPr>
          <a:lstStyle/>
          <a:p>
            <a:pPr algn="ctr">
              <a:lnSpc>
                <a:spcPts val="1680"/>
              </a:lnSpc>
              <a:defRPr sz="1400" b="1">
                <a:solidFill>
                  <a:srgbClr val="E8A838"/>
                </a:solidFill>
                <a:latin typeface="Calibri"/>
              </a:defRPr>
            </a:pPr>
            <a:r>
              <a:t>Outcome Summary</a:t>
            </a:r>
          </a:p>
        </p:txBody>
      </p:sp>
      <p:sp>
        <p:nvSpPr>
          <p:cNvPr id="9" name="TextBox 8"/>
          <p:cNvSpPr txBox="1"/>
          <p:nvPr/>
        </p:nvSpPr>
        <p:spPr>
          <a:xfrm>
            <a:off x="7955279" y="2377440"/>
            <a:ext cx="457200" cy="274320"/>
          </a:xfrm>
          <a:prstGeom prst="rect">
            <a:avLst/>
          </a:prstGeom>
          <a:noFill/>
        </p:spPr>
        <p:txBody>
          <a:bodyPr wrap="square">
            <a:spAutoFit/>
          </a:bodyPr>
          <a:lstStyle/>
          <a:p>
            <a:pPr algn="l">
              <a:lnSpc>
                <a:spcPts val="1200"/>
              </a:lnSpc>
              <a:defRPr sz="1000" b="1">
                <a:solidFill>
                  <a:srgbClr val="E8A838"/>
                </a:solidFill>
                <a:latin typeface="Calibri"/>
              </a:defRPr>
            </a:pPr>
            <a:r>
              <a:t>H</a:t>
            </a:r>
          </a:p>
        </p:txBody>
      </p:sp>
      <p:sp>
        <p:nvSpPr>
          <p:cNvPr id="10" name="TextBox 9"/>
          <p:cNvSpPr txBox="1"/>
          <p:nvPr/>
        </p:nvSpPr>
        <p:spPr>
          <a:xfrm>
            <a:off x="8412480" y="2377440"/>
            <a:ext cx="1645920" cy="274320"/>
          </a:xfrm>
          <a:prstGeom prst="rect">
            <a:avLst/>
          </a:prstGeom>
          <a:noFill/>
        </p:spPr>
        <p:txBody>
          <a:bodyPr wrap="square">
            <a:spAutoFit/>
          </a:bodyPr>
          <a:lstStyle/>
          <a:p>
            <a:pPr algn="l">
              <a:lnSpc>
                <a:spcPts val="1200"/>
              </a:lnSpc>
              <a:defRPr sz="1000" b="1">
                <a:solidFill>
                  <a:srgbClr val="E8A838"/>
                </a:solidFill>
                <a:latin typeface="Calibri"/>
              </a:defRPr>
            </a:pPr>
            <a:r>
              <a:t>Path</a:t>
            </a:r>
          </a:p>
        </p:txBody>
      </p:sp>
      <p:sp>
        <p:nvSpPr>
          <p:cNvPr id="11" name="TextBox 10"/>
          <p:cNvSpPr txBox="1"/>
          <p:nvPr/>
        </p:nvSpPr>
        <p:spPr>
          <a:xfrm>
            <a:off x="10058400" y="2377440"/>
            <a:ext cx="640080" cy="274320"/>
          </a:xfrm>
          <a:prstGeom prst="rect">
            <a:avLst/>
          </a:prstGeom>
          <a:noFill/>
        </p:spPr>
        <p:txBody>
          <a:bodyPr wrap="square">
            <a:spAutoFit/>
          </a:bodyPr>
          <a:lstStyle/>
          <a:p>
            <a:pPr algn="ctr">
              <a:lnSpc>
                <a:spcPts val="1200"/>
              </a:lnSpc>
              <a:defRPr sz="1000" b="1">
                <a:solidFill>
                  <a:srgbClr val="E8A838"/>
                </a:solidFill>
                <a:latin typeface="Calibri"/>
              </a:defRPr>
            </a:pPr>
            <a:r>
              <a:t>β</a:t>
            </a:r>
          </a:p>
        </p:txBody>
      </p:sp>
      <p:sp>
        <p:nvSpPr>
          <p:cNvPr id="12" name="TextBox 11"/>
          <p:cNvSpPr txBox="1"/>
          <p:nvPr/>
        </p:nvSpPr>
        <p:spPr>
          <a:xfrm>
            <a:off x="10698480" y="2377440"/>
            <a:ext cx="1005840" cy="274320"/>
          </a:xfrm>
          <a:prstGeom prst="rect">
            <a:avLst/>
          </a:prstGeom>
          <a:noFill/>
        </p:spPr>
        <p:txBody>
          <a:bodyPr wrap="square">
            <a:spAutoFit/>
          </a:bodyPr>
          <a:lstStyle/>
          <a:p>
            <a:pPr algn="ctr">
              <a:lnSpc>
                <a:spcPts val="1200"/>
              </a:lnSpc>
              <a:defRPr sz="1000" b="1">
                <a:solidFill>
                  <a:srgbClr val="E8A838"/>
                </a:solidFill>
                <a:latin typeface="Calibri"/>
              </a:defRPr>
            </a:pPr>
            <a:r>
              <a:t>Result</a:t>
            </a:r>
          </a:p>
        </p:txBody>
      </p:sp>
      <p:sp>
        <p:nvSpPr>
          <p:cNvPr id="13" name="TextBox 12"/>
          <p:cNvSpPr txBox="1"/>
          <p:nvPr/>
        </p:nvSpPr>
        <p:spPr>
          <a:xfrm>
            <a:off x="7955279" y="2788920"/>
            <a:ext cx="457200" cy="274320"/>
          </a:xfrm>
          <a:prstGeom prst="rect">
            <a:avLst/>
          </a:prstGeom>
          <a:noFill/>
        </p:spPr>
        <p:txBody>
          <a:bodyPr wrap="square">
            <a:spAutoFit/>
          </a:bodyPr>
          <a:lstStyle/>
          <a:p>
            <a:pPr algn="l">
              <a:lnSpc>
                <a:spcPts val="1200"/>
              </a:lnSpc>
              <a:defRPr sz="1000" b="1">
                <a:solidFill>
                  <a:srgbClr val="FFFFFF"/>
                </a:solidFill>
                <a:latin typeface="Calibri"/>
              </a:defRPr>
            </a:pPr>
            <a:r>
              <a:t>H1</a:t>
            </a:r>
          </a:p>
        </p:txBody>
      </p:sp>
      <p:sp>
        <p:nvSpPr>
          <p:cNvPr id="14" name="TextBox 13"/>
          <p:cNvSpPr txBox="1"/>
          <p:nvPr/>
        </p:nvSpPr>
        <p:spPr>
          <a:xfrm>
            <a:off x="8412480" y="2788920"/>
            <a:ext cx="1645920" cy="274320"/>
          </a:xfrm>
          <a:prstGeom prst="rect">
            <a:avLst/>
          </a:prstGeom>
          <a:noFill/>
        </p:spPr>
        <p:txBody>
          <a:bodyPr wrap="square">
            <a:spAutoFit/>
          </a:bodyPr>
          <a:lstStyle/>
          <a:p>
            <a:pPr algn="l">
              <a:lnSpc>
                <a:spcPts val="1080"/>
              </a:lnSpc>
              <a:defRPr sz="900" b="0">
                <a:solidFill>
                  <a:srgbClr val="CCDDEE"/>
                </a:solidFill>
                <a:latin typeface="Calibri"/>
              </a:defRPr>
            </a:pPr>
            <a:r>
              <a:t>RPA → RME</a:t>
            </a:r>
          </a:p>
        </p:txBody>
      </p:sp>
      <p:sp>
        <p:nvSpPr>
          <p:cNvPr id="15" name="TextBox 14"/>
          <p:cNvSpPr txBox="1"/>
          <p:nvPr/>
        </p:nvSpPr>
        <p:spPr>
          <a:xfrm>
            <a:off x="10058400" y="2788920"/>
            <a:ext cx="640080" cy="274320"/>
          </a:xfrm>
          <a:prstGeom prst="rect">
            <a:avLst/>
          </a:prstGeom>
          <a:noFill/>
        </p:spPr>
        <p:txBody>
          <a:bodyPr wrap="square">
            <a:spAutoFit/>
          </a:bodyPr>
          <a:lstStyle/>
          <a:p>
            <a:pPr algn="ctr">
              <a:lnSpc>
                <a:spcPts val="1200"/>
              </a:lnSpc>
              <a:defRPr sz="1000" b="1">
                <a:solidFill>
                  <a:srgbClr val="FFFFFF"/>
                </a:solidFill>
                <a:latin typeface="Calibri"/>
              </a:defRPr>
            </a:pPr>
            <a:r>
              <a:t>0.464</a:t>
            </a:r>
          </a:p>
        </p:txBody>
      </p:sp>
      <p:sp>
        <p:nvSpPr>
          <p:cNvPr id="16" name="TextBox 15"/>
          <p:cNvSpPr txBox="1"/>
          <p:nvPr/>
        </p:nvSpPr>
        <p:spPr>
          <a:xfrm>
            <a:off x="10698480" y="2788920"/>
            <a:ext cx="1005840" cy="274320"/>
          </a:xfrm>
          <a:prstGeom prst="rect">
            <a:avLst/>
          </a:prstGeom>
          <a:noFill/>
        </p:spPr>
        <p:txBody>
          <a:bodyPr wrap="square">
            <a:spAutoFit/>
          </a:bodyPr>
          <a:lstStyle/>
          <a:p>
            <a:pPr algn="ctr">
              <a:lnSpc>
                <a:spcPts val="1080"/>
              </a:lnSpc>
              <a:defRPr sz="900" b="1">
                <a:solidFill>
                  <a:srgbClr val="27AE60"/>
                </a:solidFill>
                <a:latin typeface="Calibri"/>
              </a:defRPr>
            </a:pPr>
            <a:r>
              <a:t>✅ Supported</a:t>
            </a:r>
          </a:p>
        </p:txBody>
      </p:sp>
      <p:sp>
        <p:nvSpPr>
          <p:cNvPr id="17" name="TextBox 16"/>
          <p:cNvSpPr txBox="1"/>
          <p:nvPr/>
        </p:nvSpPr>
        <p:spPr>
          <a:xfrm>
            <a:off x="7955279" y="3319272"/>
            <a:ext cx="457200" cy="274320"/>
          </a:xfrm>
          <a:prstGeom prst="rect">
            <a:avLst/>
          </a:prstGeom>
          <a:noFill/>
        </p:spPr>
        <p:txBody>
          <a:bodyPr wrap="square">
            <a:spAutoFit/>
          </a:bodyPr>
          <a:lstStyle/>
          <a:p>
            <a:pPr algn="l">
              <a:lnSpc>
                <a:spcPts val="1200"/>
              </a:lnSpc>
              <a:defRPr sz="1000" b="1">
                <a:solidFill>
                  <a:srgbClr val="FFFFFF"/>
                </a:solidFill>
                <a:latin typeface="Calibri"/>
              </a:defRPr>
            </a:pPr>
            <a:r>
              <a:t>H2</a:t>
            </a:r>
          </a:p>
        </p:txBody>
      </p:sp>
      <p:sp>
        <p:nvSpPr>
          <p:cNvPr id="18" name="TextBox 17"/>
          <p:cNvSpPr txBox="1"/>
          <p:nvPr/>
        </p:nvSpPr>
        <p:spPr>
          <a:xfrm>
            <a:off x="8412480" y="3319272"/>
            <a:ext cx="1645920" cy="274320"/>
          </a:xfrm>
          <a:prstGeom prst="rect">
            <a:avLst/>
          </a:prstGeom>
          <a:noFill/>
        </p:spPr>
        <p:txBody>
          <a:bodyPr wrap="square">
            <a:spAutoFit/>
          </a:bodyPr>
          <a:lstStyle/>
          <a:p>
            <a:pPr algn="l">
              <a:lnSpc>
                <a:spcPts val="1080"/>
              </a:lnSpc>
              <a:defRPr sz="900" b="0">
                <a:solidFill>
                  <a:srgbClr val="CCDDEE"/>
                </a:solidFill>
                <a:latin typeface="Calibri"/>
              </a:defRPr>
            </a:pPr>
            <a:r>
              <a:t>RVI → RME</a:t>
            </a:r>
          </a:p>
        </p:txBody>
      </p:sp>
      <p:sp>
        <p:nvSpPr>
          <p:cNvPr id="19" name="TextBox 18"/>
          <p:cNvSpPr txBox="1"/>
          <p:nvPr/>
        </p:nvSpPr>
        <p:spPr>
          <a:xfrm>
            <a:off x="10058400" y="3319272"/>
            <a:ext cx="640080" cy="274320"/>
          </a:xfrm>
          <a:prstGeom prst="rect">
            <a:avLst/>
          </a:prstGeom>
          <a:noFill/>
        </p:spPr>
        <p:txBody>
          <a:bodyPr wrap="square">
            <a:spAutoFit/>
          </a:bodyPr>
          <a:lstStyle/>
          <a:p>
            <a:pPr algn="ctr">
              <a:lnSpc>
                <a:spcPts val="1200"/>
              </a:lnSpc>
              <a:defRPr sz="1000" b="1">
                <a:solidFill>
                  <a:srgbClr val="FFFFFF"/>
                </a:solidFill>
                <a:latin typeface="Calibri"/>
              </a:defRPr>
            </a:pPr>
            <a:r>
              <a:t>0.121</a:t>
            </a:r>
          </a:p>
        </p:txBody>
      </p:sp>
      <p:sp>
        <p:nvSpPr>
          <p:cNvPr id="20" name="TextBox 19"/>
          <p:cNvSpPr txBox="1"/>
          <p:nvPr/>
        </p:nvSpPr>
        <p:spPr>
          <a:xfrm>
            <a:off x="10698480" y="3319272"/>
            <a:ext cx="1005840" cy="274320"/>
          </a:xfrm>
          <a:prstGeom prst="rect">
            <a:avLst/>
          </a:prstGeom>
          <a:noFill/>
        </p:spPr>
        <p:txBody>
          <a:bodyPr wrap="square">
            <a:spAutoFit/>
          </a:bodyPr>
          <a:lstStyle/>
          <a:p>
            <a:pPr algn="ctr">
              <a:lnSpc>
                <a:spcPts val="1080"/>
              </a:lnSpc>
              <a:defRPr sz="900" b="1">
                <a:solidFill>
                  <a:srgbClr val="F39C12"/>
                </a:solidFill>
                <a:latin typeface="Calibri"/>
              </a:defRPr>
            </a:pPr>
            <a:r>
              <a:t>⚠ Marginal</a:t>
            </a:r>
          </a:p>
        </p:txBody>
      </p:sp>
      <p:sp>
        <p:nvSpPr>
          <p:cNvPr id="21" name="TextBox 20"/>
          <p:cNvSpPr txBox="1"/>
          <p:nvPr/>
        </p:nvSpPr>
        <p:spPr>
          <a:xfrm>
            <a:off x="7955279" y="3849624"/>
            <a:ext cx="457200" cy="274320"/>
          </a:xfrm>
          <a:prstGeom prst="rect">
            <a:avLst/>
          </a:prstGeom>
          <a:noFill/>
        </p:spPr>
        <p:txBody>
          <a:bodyPr wrap="square">
            <a:spAutoFit/>
          </a:bodyPr>
          <a:lstStyle/>
          <a:p>
            <a:pPr algn="l">
              <a:lnSpc>
                <a:spcPts val="1200"/>
              </a:lnSpc>
              <a:defRPr sz="1000" b="1">
                <a:solidFill>
                  <a:srgbClr val="FFFFFF"/>
                </a:solidFill>
                <a:latin typeface="Calibri"/>
              </a:defRPr>
            </a:pPr>
            <a:r>
              <a:t>H3</a:t>
            </a:r>
          </a:p>
        </p:txBody>
      </p:sp>
      <p:sp>
        <p:nvSpPr>
          <p:cNvPr id="22" name="TextBox 21"/>
          <p:cNvSpPr txBox="1"/>
          <p:nvPr/>
        </p:nvSpPr>
        <p:spPr>
          <a:xfrm>
            <a:off x="8412480" y="3849624"/>
            <a:ext cx="1645920" cy="274320"/>
          </a:xfrm>
          <a:prstGeom prst="rect">
            <a:avLst/>
          </a:prstGeom>
          <a:noFill/>
        </p:spPr>
        <p:txBody>
          <a:bodyPr wrap="square">
            <a:spAutoFit/>
          </a:bodyPr>
          <a:lstStyle/>
          <a:p>
            <a:pPr algn="l">
              <a:lnSpc>
                <a:spcPts val="1080"/>
              </a:lnSpc>
              <a:defRPr sz="900" b="0">
                <a:solidFill>
                  <a:srgbClr val="CCDDEE"/>
                </a:solidFill>
                <a:latin typeface="Calibri"/>
              </a:defRPr>
            </a:pPr>
            <a:r>
              <a:t>TRE → RME</a:t>
            </a:r>
          </a:p>
        </p:txBody>
      </p:sp>
      <p:sp>
        <p:nvSpPr>
          <p:cNvPr id="23" name="TextBox 22"/>
          <p:cNvSpPr txBox="1"/>
          <p:nvPr/>
        </p:nvSpPr>
        <p:spPr>
          <a:xfrm>
            <a:off x="10058400" y="3849624"/>
            <a:ext cx="640080" cy="274320"/>
          </a:xfrm>
          <a:prstGeom prst="rect">
            <a:avLst/>
          </a:prstGeom>
          <a:noFill/>
        </p:spPr>
        <p:txBody>
          <a:bodyPr wrap="square">
            <a:spAutoFit/>
          </a:bodyPr>
          <a:lstStyle/>
          <a:p>
            <a:pPr algn="ctr">
              <a:lnSpc>
                <a:spcPts val="1200"/>
              </a:lnSpc>
              <a:defRPr sz="1000" b="1">
                <a:solidFill>
                  <a:srgbClr val="FFFFFF"/>
                </a:solidFill>
                <a:latin typeface="Calibri"/>
              </a:defRPr>
            </a:pPr>
            <a:r>
              <a:t>0.129</a:t>
            </a:r>
          </a:p>
        </p:txBody>
      </p:sp>
      <p:sp>
        <p:nvSpPr>
          <p:cNvPr id="24" name="TextBox 23"/>
          <p:cNvSpPr txBox="1"/>
          <p:nvPr/>
        </p:nvSpPr>
        <p:spPr>
          <a:xfrm>
            <a:off x="10698480" y="3849624"/>
            <a:ext cx="1005840" cy="274320"/>
          </a:xfrm>
          <a:prstGeom prst="rect">
            <a:avLst/>
          </a:prstGeom>
          <a:noFill/>
        </p:spPr>
        <p:txBody>
          <a:bodyPr wrap="square">
            <a:spAutoFit/>
          </a:bodyPr>
          <a:lstStyle/>
          <a:p>
            <a:pPr algn="ctr">
              <a:lnSpc>
                <a:spcPts val="1080"/>
              </a:lnSpc>
              <a:defRPr sz="900" b="1">
                <a:solidFill>
                  <a:srgbClr val="F39C12"/>
                </a:solidFill>
                <a:latin typeface="Calibri"/>
              </a:defRPr>
            </a:pPr>
            <a:r>
              <a:t>⚠ Modest</a:t>
            </a:r>
          </a:p>
        </p:txBody>
      </p:sp>
      <p:sp>
        <p:nvSpPr>
          <p:cNvPr id="25" name="TextBox 24"/>
          <p:cNvSpPr txBox="1"/>
          <p:nvPr/>
        </p:nvSpPr>
        <p:spPr>
          <a:xfrm>
            <a:off x="7955279" y="4379975"/>
            <a:ext cx="457200" cy="274320"/>
          </a:xfrm>
          <a:prstGeom prst="rect">
            <a:avLst/>
          </a:prstGeom>
          <a:noFill/>
        </p:spPr>
        <p:txBody>
          <a:bodyPr wrap="square">
            <a:spAutoFit/>
          </a:bodyPr>
          <a:lstStyle/>
          <a:p>
            <a:pPr algn="l">
              <a:lnSpc>
                <a:spcPts val="1200"/>
              </a:lnSpc>
              <a:defRPr sz="1000" b="1">
                <a:solidFill>
                  <a:srgbClr val="FFFFFF"/>
                </a:solidFill>
                <a:latin typeface="Calibri"/>
              </a:defRPr>
            </a:pPr>
            <a:r>
              <a:t>H4</a:t>
            </a:r>
          </a:p>
        </p:txBody>
      </p:sp>
      <p:sp>
        <p:nvSpPr>
          <p:cNvPr id="26" name="TextBox 25"/>
          <p:cNvSpPr txBox="1"/>
          <p:nvPr/>
        </p:nvSpPr>
        <p:spPr>
          <a:xfrm>
            <a:off x="8412480" y="4379975"/>
            <a:ext cx="1645920" cy="274320"/>
          </a:xfrm>
          <a:prstGeom prst="rect">
            <a:avLst/>
          </a:prstGeom>
          <a:noFill/>
        </p:spPr>
        <p:txBody>
          <a:bodyPr wrap="square">
            <a:spAutoFit/>
          </a:bodyPr>
          <a:lstStyle/>
          <a:p>
            <a:pPr algn="l">
              <a:lnSpc>
                <a:spcPts val="1080"/>
              </a:lnSpc>
              <a:defRPr sz="900" b="0">
                <a:solidFill>
                  <a:srgbClr val="CCDDEE"/>
                </a:solidFill>
                <a:latin typeface="Calibri"/>
              </a:defRPr>
            </a:pPr>
            <a:r>
              <a:t>GC → RME</a:t>
            </a:r>
          </a:p>
        </p:txBody>
      </p:sp>
      <p:sp>
        <p:nvSpPr>
          <p:cNvPr id="27" name="TextBox 26"/>
          <p:cNvSpPr txBox="1"/>
          <p:nvPr/>
        </p:nvSpPr>
        <p:spPr>
          <a:xfrm>
            <a:off x="10058400" y="4379975"/>
            <a:ext cx="640080" cy="274320"/>
          </a:xfrm>
          <a:prstGeom prst="rect">
            <a:avLst/>
          </a:prstGeom>
          <a:noFill/>
        </p:spPr>
        <p:txBody>
          <a:bodyPr wrap="square">
            <a:spAutoFit/>
          </a:bodyPr>
          <a:lstStyle/>
          <a:p>
            <a:pPr algn="ctr">
              <a:lnSpc>
                <a:spcPts val="1200"/>
              </a:lnSpc>
              <a:defRPr sz="1000" b="1">
                <a:solidFill>
                  <a:srgbClr val="FFFFFF"/>
                </a:solidFill>
                <a:latin typeface="Calibri"/>
              </a:defRPr>
            </a:pPr>
            <a:r>
              <a:t>0.397</a:t>
            </a:r>
          </a:p>
        </p:txBody>
      </p:sp>
      <p:sp>
        <p:nvSpPr>
          <p:cNvPr id="28" name="TextBox 27"/>
          <p:cNvSpPr txBox="1"/>
          <p:nvPr/>
        </p:nvSpPr>
        <p:spPr>
          <a:xfrm>
            <a:off x="10698480" y="4379975"/>
            <a:ext cx="1005840" cy="274320"/>
          </a:xfrm>
          <a:prstGeom prst="rect">
            <a:avLst/>
          </a:prstGeom>
          <a:noFill/>
        </p:spPr>
        <p:txBody>
          <a:bodyPr wrap="square">
            <a:spAutoFit/>
          </a:bodyPr>
          <a:lstStyle/>
          <a:p>
            <a:pPr algn="ctr">
              <a:lnSpc>
                <a:spcPts val="1080"/>
              </a:lnSpc>
              <a:defRPr sz="900" b="1">
                <a:solidFill>
                  <a:srgbClr val="27AE60"/>
                </a:solidFill>
                <a:latin typeface="Calibri"/>
              </a:defRPr>
            </a:pPr>
            <a:r>
              <a:t>✅ Supported</a:t>
            </a:r>
          </a:p>
        </p:txBody>
      </p:sp>
      <p:sp>
        <p:nvSpPr>
          <p:cNvPr id="29" name="TextBox 28"/>
          <p:cNvSpPr txBox="1"/>
          <p:nvPr/>
        </p:nvSpPr>
        <p:spPr>
          <a:xfrm>
            <a:off x="7955279" y="4910327"/>
            <a:ext cx="457200" cy="274320"/>
          </a:xfrm>
          <a:prstGeom prst="rect">
            <a:avLst/>
          </a:prstGeom>
          <a:noFill/>
        </p:spPr>
        <p:txBody>
          <a:bodyPr wrap="square">
            <a:spAutoFit/>
          </a:bodyPr>
          <a:lstStyle/>
          <a:p>
            <a:pPr algn="l">
              <a:lnSpc>
                <a:spcPts val="1200"/>
              </a:lnSpc>
              <a:defRPr sz="1000" b="1">
                <a:solidFill>
                  <a:srgbClr val="FFFFFF"/>
                </a:solidFill>
                <a:latin typeface="Calibri"/>
              </a:defRPr>
            </a:pPr>
            <a:r>
              <a:t>H5</a:t>
            </a:r>
          </a:p>
        </p:txBody>
      </p:sp>
      <p:sp>
        <p:nvSpPr>
          <p:cNvPr id="30" name="TextBox 29"/>
          <p:cNvSpPr txBox="1"/>
          <p:nvPr/>
        </p:nvSpPr>
        <p:spPr>
          <a:xfrm>
            <a:off x="8412480" y="4910327"/>
            <a:ext cx="1645920" cy="274320"/>
          </a:xfrm>
          <a:prstGeom prst="rect">
            <a:avLst/>
          </a:prstGeom>
          <a:noFill/>
        </p:spPr>
        <p:txBody>
          <a:bodyPr wrap="square">
            <a:spAutoFit/>
          </a:bodyPr>
          <a:lstStyle/>
          <a:p>
            <a:pPr algn="l">
              <a:lnSpc>
                <a:spcPts val="1080"/>
              </a:lnSpc>
              <a:defRPr sz="900" b="0">
                <a:solidFill>
                  <a:srgbClr val="CCDDEE"/>
                </a:solidFill>
                <a:latin typeface="Calibri"/>
              </a:defRPr>
            </a:pPr>
            <a:r>
              <a:t>ADRAC → RME</a:t>
            </a:r>
          </a:p>
        </p:txBody>
      </p:sp>
      <p:sp>
        <p:nvSpPr>
          <p:cNvPr id="31" name="TextBox 30"/>
          <p:cNvSpPr txBox="1"/>
          <p:nvPr/>
        </p:nvSpPr>
        <p:spPr>
          <a:xfrm>
            <a:off x="10058400" y="4910327"/>
            <a:ext cx="640080" cy="274320"/>
          </a:xfrm>
          <a:prstGeom prst="rect">
            <a:avLst/>
          </a:prstGeom>
          <a:noFill/>
        </p:spPr>
        <p:txBody>
          <a:bodyPr wrap="square">
            <a:spAutoFit/>
          </a:bodyPr>
          <a:lstStyle/>
          <a:p>
            <a:pPr algn="ctr">
              <a:lnSpc>
                <a:spcPts val="1200"/>
              </a:lnSpc>
              <a:defRPr sz="1000" b="1">
                <a:solidFill>
                  <a:srgbClr val="FFFFFF"/>
                </a:solidFill>
                <a:latin typeface="Calibri"/>
              </a:defRPr>
            </a:pPr>
            <a:r>
              <a:t>0.449</a:t>
            </a:r>
          </a:p>
        </p:txBody>
      </p:sp>
      <p:sp>
        <p:nvSpPr>
          <p:cNvPr id="32" name="TextBox 31"/>
          <p:cNvSpPr txBox="1"/>
          <p:nvPr/>
        </p:nvSpPr>
        <p:spPr>
          <a:xfrm>
            <a:off x="10698480" y="4910327"/>
            <a:ext cx="1005840" cy="274320"/>
          </a:xfrm>
          <a:prstGeom prst="rect">
            <a:avLst/>
          </a:prstGeom>
          <a:noFill/>
        </p:spPr>
        <p:txBody>
          <a:bodyPr wrap="square">
            <a:spAutoFit/>
          </a:bodyPr>
          <a:lstStyle/>
          <a:p>
            <a:pPr algn="ctr">
              <a:lnSpc>
                <a:spcPts val="1080"/>
              </a:lnSpc>
              <a:defRPr sz="900" b="1">
                <a:solidFill>
                  <a:srgbClr val="27AE60"/>
                </a:solidFill>
                <a:latin typeface="Calibri"/>
              </a:defRPr>
            </a:pPr>
            <a:r>
              <a:t>✅ Supported</a:t>
            </a:r>
          </a:p>
        </p:txBody>
      </p:sp>
      <p:sp>
        <p:nvSpPr>
          <p:cNvPr id="33" name="Rounded Rectangle 32"/>
          <p:cNvSpPr/>
          <p:nvPr/>
        </p:nvSpPr>
        <p:spPr>
          <a:xfrm>
            <a:off x="7772400" y="5577840"/>
            <a:ext cx="4023360" cy="411480"/>
          </a:xfrm>
          <a:prstGeom prst="roundRect">
            <a:avLst/>
          </a:prstGeom>
          <a:solidFill>
            <a:srgbClr val="1B4F8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E8A838"/>
                </a:solidFill>
                <a:latin typeface="Calibri"/>
              </a:defRPr>
            </a:pPr>
            <a:r>
              <a:t>Rank: H5 (AI) &gt; H1 (RPA) &gt; H4 (GC) &gt;&gt; H3 &gt; H2</a:t>
            </a:r>
          </a:p>
        </p:txBody>
      </p:sp>
      <p:pic>
        <p:nvPicPr>
          <p:cNvPr id="34" name="Picture 33" descr="model_fit.png"/>
          <p:cNvPicPr>
            <a:picLocks noChangeAspect="1"/>
          </p:cNvPicPr>
          <p:nvPr/>
        </p:nvPicPr>
        <p:blipFill>
          <a:blip r:embed="rId3"/>
          <a:stretch>
            <a:fillRect/>
          </a:stretch>
        </p:blipFill>
        <p:spPr>
          <a:xfrm>
            <a:off x="7140677" y="178947"/>
            <a:ext cx="3237763" cy="1618882"/>
          </a:xfrm>
          <a:prstGeom prst="rect">
            <a:avLst/>
          </a:prstGeom>
        </p:spPr>
      </p:pic>
      <p:sp>
        <p:nvSpPr>
          <p:cNvPr id="35" name="TextBox 34"/>
          <p:cNvSpPr txBox="1"/>
          <p:nvPr/>
        </p:nvSpPr>
        <p:spPr>
          <a:xfrm>
            <a:off x="10492740" y="403216"/>
            <a:ext cx="1417319" cy="1169551"/>
          </a:xfrm>
          <a:prstGeom prst="rect">
            <a:avLst/>
          </a:prstGeom>
          <a:noFill/>
        </p:spPr>
        <p:txBody>
          <a:bodyPr wrap="square">
            <a:spAutoFit/>
          </a:bodyPr>
          <a:lstStyle/>
          <a:p>
            <a:pPr algn="l">
              <a:lnSpc>
                <a:spcPts val="1200"/>
              </a:lnSpc>
              <a:defRPr sz="1000" b="1">
                <a:solidFill>
                  <a:srgbClr val="27AE60"/>
                </a:solidFill>
                <a:latin typeface="Calibri"/>
              </a:defRPr>
            </a:pPr>
            <a:r>
              <a:rPr dirty="0"/>
              <a:t>All 5 models</a:t>
            </a:r>
            <a:br>
              <a:rPr dirty="0"/>
            </a:br>
            <a:r>
              <a:rPr dirty="0"/>
              <a:t>exceed fit</a:t>
            </a:r>
            <a:br>
              <a:rPr dirty="0"/>
            </a:br>
            <a:r>
              <a:rPr dirty="0"/>
              <a:t>thresholds</a:t>
            </a:r>
            <a:br>
              <a:rPr dirty="0"/>
            </a:br>
            <a:br>
              <a:rPr dirty="0"/>
            </a:br>
            <a:r>
              <a:rPr dirty="0"/>
              <a:t>✓ CFI &gt; 0.90</a:t>
            </a:r>
            <a:br>
              <a:rPr dirty="0"/>
            </a:br>
            <a:r>
              <a:rPr dirty="0"/>
              <a:t>✓ RMSEA &lt; 0.08</a:t>
            </a:r>
            <a:br>
              <a:rPr dirty="0"/>
            </a:br>
            <a:r>
              <a:rPr dirty="0"/>
              <a:t>✓ CMIN/DF &lt; 3.0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D3A"/>
        </a:solidFill>
        <a:effectLst/>
      </p:bgPr>
    </p:bg>
    <p:spTree>
      <p:nvGrpSpPr>
        <p:cNvPr id="1" name=""/>
        <p:cNvGrpSpPr/>
        <p:nvPr/>
      </p:nvGrpSpPr>
      <p:grpSpPr>
        <a:xfrm>
          <a:off x="0" y="0"/>
          <a:ext cx="0" cy="0"/>
          <a:chOff x="0" y="0"/>
          <a:chExt cx="0" cy="0"/>
        </a:xfrm>
      </p:grpSpPr>
      <p:sp>
        <p:nvSpPr>
          <p:cNvPr id="2" name="Rectangle 1"/>
          <p:cNvSpPr/>
          <p:nvPr/>
        </p:nvSpPr>
        <p:spPr>
          <a:xfrm>
            <a:off x="731520" y="640080"/>
            <a:ext cx="2286000" cy="5029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777240"/>
            <a:ext cx="9144000" cy="640080"/>
          </a:xfrm>
          <a:prstGeom prst="rect">
            <a:avLst/>
          </a:prstGeom>
          <a:noFill/>
        </p:spPr>
        <p:txBody>
          <a:bodyPr wrap="square">
            <a:spAutoFit/>
          </a:bodyPr>
          <a:lstStyle/>
          <a:p>
            <a:pPr algn="l">
              <a:lnSpc>
                <a:spcPts val="3600"/>
              </a:lnSpc>
              <a:defRPr sz="3000" b="1">
                <a:solidFill>
                  <a:srgbClr val="E8A838"/>
                </a:solidFill>
                <a:latin typeface="Calibri"/>
              </a:defRPr>
            </a:pPr>
            <a:r>
              <a:t>Discussion &amp; Key Insights</a:t>
            </a:r>
          </a:p>
        </p:txBody>
      </p:sp>
      <p:sp>
        <p:nvSpPr>
          <p:cNvPr id="4" name="Rectangle 3"/>
          <p:cNvSpPr/>
          <p:nvPr/>
        </p:nvSpPr>
        <p:spPr>
          <a:xfrm>
            <a:off x="0" y="6784848"/>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47120" y="6446520"/>
            <a:ext cx="731520" cy="320040"/>
          </a:xfrm>
          <a:prstGeom prst="rect">
            <a:avLst/>
          </a:prstGeom>
          <a:noFill/>
        </p:spPr>
        <p:txBody>
          <a:bodyPr wrap="none">
            <a:spAutoFit/>
          </a:bodyPr>
          <a:lstStyle/>
          <a:p>
            <a:pPr algn="r">
              <a:defRPr sz="1000">
                <a:solidFill>
                  <a:srgbClr val="99AABB"/>
                </a:solidFill>
              </a:defRPr>
            </a:pPr>
            <a:r>
              <a:t>12/14</a:t>
            </a:r>
          </a:p>
        </p:txBody>
      </p:sp>
      <p:sp>
        <p:nvSpPr>
          <p:cNvPr id="6" name="Rounded Rectangle 5"/>
          <p:cNvSpPr/>
          <p:nvPr/>
        </p:nvSpPr>
        <p:spPr>
          <a:xfrm>
            <a:off x="548640" y="1920240"/>
            <a:ext cx="3474720" cy="4572000"/>
          </a:xfrm>
          <a:prstGeom prst="roundRect">
            <a:avLst/>
          </a:prstGeom>
          <a:solidFill>
            <a:srgbClr val="1B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103120"/>
            <a:ext cx="3108960" cy="640080"/>
          </a:xfrm>
          <a:prstGeom prst="rect">
            <a:avLst/>
          </a:prstGeom>
          <a:noFill/>
        </p:spPr>
        <p:txBody>
          <a:bodyPr wrap="square">
            <a:spAutoFit/>
          </a:bodyPr>
          <a:lstStyle/>
          <a:p>
            <a:pPr algn="ctr">
              <a:lnSpc>
                <a:spcPts val="1680"/>
              </a:lnSpc>
              <a:defRPr sz="1400" b="1">
                <a:solidFill>
                  <a:srgbClr val="E8A838"/>
                </a:solidFill>
                <a:latin typeface="Calibri"/>
              </a:defRPr>
            </a:pPr>
            <a:r>
              <a:t>Structural Coherence</a:t>
            </a:r>
            <a:br/>
            <a:r>
              <a:t>Drives Effectiveness</a:t>
            </a:r>
          </a:p>
        </p:txBody>
      </p:sp>
      <p:sp>
        <p:nvSpPr>
          <p:cNvPr id="8" name="Rectangle 7"/>
          <p:cNvSpPr/>
          <p:nvPr/>
        </p:nvSpPr>
        <p:spPr>
          <a:xfrm>
            <a:off x="914400" y="2926080"/>
            <a:ext cx="2743200" cy="1828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3108960"/>
            <a:ext cx="3108960" cy="3200400"/>
          </a:xfrm>
          <a:prstGeom prst="rect">
            <a:avLst/>
          </a:prstGeom>
          <a:noFill/>
        </p:spPr>
        <p:txBody>
          <a:bodyPr wrap="square">
            <a:spAutoFit/>
          </a:bodyPr>
          <a:lstStyle/>
          <a:p>
            <a:pPr algn="l">
              <a:lnSpc>
                <a:spcPts val="1539"/>
              </a:lnSpc>
              <a:defRPr sz="1100" b="0">
                <a:solidFill>
                  <a:srgbClr val="CCDDEE"/>
                </a:solidFill>
                <a:latin typeface="Calibri"/>
              </a:defRPr>
            </a:pPr>
            <a:r>
              <a:t>Governance Consistency and Risk Process Alignment are foundational enablers. Risk management effectiveness requires deliberate integration across Agile and Waterfall governance — not parallel or fragmented systems.</a:t>
            </a:r>
          </a:p>
        </p:txBody>
      </p:sp>
      <p:sp>
        <p:nvSpPr>
          <p:cNvPr id="10" name="Rounded Rectangle 9"/>
          <p:cNvSpPr/>
          <p:nvPr/>
        </p:nvSpPr>
        <p:spPr>
          <a:xfrm>
            <a:off x="4297679" y="1920240"/>
            <a:ext cx="3474720" cy="4572000"/>
          </a:xfrm>
          <a:prstGeom prst="roundRect">
            <a:avLst/>
          </a:prstGeom>
          <a:solidFill>
            <a:srgbClr val="16A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0559" y="2103120"/>
            <a:ext cx="3108960" cy="640080"/>
          </a:xfrm>
          <a:prstGeom prst="rect">
            <a:avLst/>
          </a:prstGeom>
          <a:noFill/>
        </p:spPr>
        <p:txBody>
          <a:bodyPr wrap="square">
            <a:spAutoFit/>
          </a:bodyPr>
          <a:lstStyle/>
          <a:p>
            <a:pPr algn="ctr">
              <a:lnSpc>
                <a:spcPts val="1680"/>
              </a:lnSpc>
              <a:defRPr sz="1400" b="1">
                <a:solidFill>
                  <a:srgbClr val="E8A838"/>
                </a:solidFill>
                <a:latin typeface="Calibri"/>
              </a:defRPr>
            </a:pPr>
            <a:r>
              <a:t>AI as a Strategic</a:t>
            </a:r>
            <a:br/>
            <a:r>
              <a:t>Organizational Capability</a:t>
            </a:r>
          </a:p>
        </p:txBody>
      </p:sp>
      <p:sp>
        <p:nvSpPr>
          <p:cNvPr id="12" name="Rectangle 11"/>
          <p:cNvSpPr/>
          <p:nvPr/>
        </p:nvSpPr>
        <p:spPr>
          <a:xfrm>
            <a:off x="4663440" y="2926080"/>
            <a:ext cx="2743200" cy="1828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80559" y="3108960"/>
            <a:ext cx="3108960" cy="3200400"/>
          </a:xfrm>
          <a:prstGeom prst="rect">
            <a:avLst/>
          </a:prstGeom>
          <a:noFill/>
        </p:spPr>
        <p:txBody>
          <a:bodyPr wrap="square">
            <a:spAutoFit/>
          </a:bodyPr>
          <a:lstStyle/>
          <a:p>
            <a:pPr algn="l">
              <a:lnSpc>
                <a:spcPts val="1539"/>
              </a:lnSpc>
              <a:defRPr sz="1100" b="0">
                <a:solidFill>
                  <a:srgbClr val="CCDDEE"/>
                </a:solidFill>
                <a:latin typeface="Calibri"/>
              </a:defRPr>
            </a:pPr>
            <a:r>
              <a:t>AI analytics is not merely a technical tool but an organizational capability that enhances predictive foresight and decision quality. It amplifies governance structures and reduces cognitive limitations in complex environments.</a:t>
            </a:r>
          </a:p>
        </p:txBody>
      </p:sp>
      <p:sp>
        <p:nvSpPr>
          <p:cNvPr id="14" name="Rounded Rectangle 13"/>
          <p:cNvSpPr/>
          <p:nvPr/>
        </p:nvSpPr>
        <p:spPr>
          <a:xfrm>
            <a:off x="8046719" y="1920240"/>
            <a:ext cx="3474720" cy="4572000"/>
          </a:xfrm>
          <a:prstGeom prst="roundRect">
            <a:avLst/>
          </a:prstGeom>
          <a:solidFill>
            <a:srgbClr val="132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599" y="2103120"/>
            <a:ext cx="3108960" cy="640080"/>
          </a:xfrm>
          <a:prstGeom prst="rect">
            <a:avLst/>
          </a:prstGeom>
          <a:noFill/>
        </p:spPr>
        <p:txBody>
          <a:bodyPr wrap="square">
            <a:spAutoFit/>
          </a:bodyPr>
          <a:lstStyle/>
          <a:p>
            <a:pPr algn="ctr">
              <a:lnSpc>
                <a:spcPts val="1680"/>
              </a:lnSpc>
              <a:defRPr sz="1400" b="1">
                <a:solidFill>
                  <a:srgbClr val="E8A838"/>
                </a:solidFill>
                <a:latin typeface="Calibri"/>
              </a:defRPr>
            </a:pPr>
            <a:r>
              <a:t>Visibility &amp; Speed</a:t>
            </a:r>
            <a:br/>
            <a:r>
              <a:t>Are Necessary but Insufficient</a:t>
            </a:r>
          </a:p>
        </p:txBody>
      </p:sp>
      <p:sp>
        <p:nvSpPr>
          <p:cNvPr id="16" name="Rectangle 15"/>
          <p:cNvSpPr/>
          <p:nvPr/>
        </p:nvSpPr>
        <p:spPr>
          <a:xfrm>
            <a:off x="8412480" y="2926080"/>
            <a:ext cx="2743200" cy="1828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599" y="3108960"/>
            <a:ext cx="3108960" cy="3200400"/>
          </a:xfrm>
          <a:prstGeom prst="rect">
            <a:avLst/>
          </a:prstGeom>
          <a:noFill/>
        </p:spPr>
        <p:txBody>
          <a:bodyPr wrap="square">
            <a:spAutoFit/>
          </a:bodyPr>
          <a:lstStyle/>
          <a:p>
            <a:pPr algn="l">
              <a:lnSpc>
                <a:spcPts val="1539"/>
              </a:lnSpc>
              <a:defRPr sz="1100" b="0">
                <a:solidFill>
                  <a:srgbClr val="CCDDEE"/>
                </a:solidFill>
                <a:latin typeface="Calibri"/>
              </a:defRPr>
            </a:pPr>
            <a:r>
              <a:t>Risk visibility and timely escalation are supportive but not dominant drivers. Without governance clarity and interpretive capacity, information availability alone does not improve risk outcomes. Quality of decisions matters more than speed.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1D3A"/>
        </a:solidFill>
        <a:effectLst/>
      </p:bgPr>
    </p:bg>
    <p:spTree>
      <p:nvGrpSpPr>
        <p:cNvPr id="1" name=""/>
        <p:cNvGrpSpPr/>
        <p:nvPr/>
      </p:nvGrpSpPr>
      <p:grpSpPr>
        <a:xfrm>
          <a:off x="0" y="0"/>
          <a:ext cx="0" cy="0"/>
          <a:chOff x="0" y="0"/>
          <a:chExt cx="0" cy="0"/>
        </a:xfrm>
      </p:grpSpPr>
      <p:sp>
        <p:nvSpPr>
          <p:cNvPr id="2" name="Rectangle 1"/>
          <p:cNvSpPr/>
          <p:nvPr/>
        </p:nvSpPr>
        <p:spPr>
          <a:xfrm>
            <a:off x="731520" y="640080"/>
            <a:ext cx="2286000" cy="5029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777240"/>
            <a:ext cx="9144000" cy="640080"/>
          </a:xfrm>
          <a:prstGeom prst="rect">
            <a:avLst/>
          </a:prstGeom>
          <a:noFill/>
        </p:spPr>
        <p:txBody>
          <a:bodyPr wrap="square">
            <a:spAutoFit/>
          </a:bodyPr>
          <a:lstStyle/>
          <a:p>
            <a:pPr algn="l">
              <a:lnSpc>
                <a:spcPts val="3600"/>
              </a:lnSpc>
              <a:defRPr sz="3000" b="1">
                <a:solidFill>
                  <a:srgbClr val="E8A838"/>
                </a:solidFill>
                <a:latin typeface="Calibri"/>
              </a:defRPr>
            </a:pPr>
            <a:r>
              <a:t>Theoretical &amp; Practical Implications</a:t>
            </a:r>
          </a:p>
        </p:txBody>
      </p:sp>
      <p:sp>
        <p:nvSpPr>
          <p:cNvPr id="4" name="Rectangle 3"/>
          <p:cNvSpPr/>
          <p:nvPr/>
        </p:nvSpPr>
        <p:spPr>
          <a:xfrm>
            <a:off x="0" y="6784848"/>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47120" y="6446520"/>
            <a:ext cx="731520" cy="320040"/>
          </a:xfrm>
          <a:prstGeom prst="rect">
            <a:avLst/>
          </a:prstGeom>
          <a:noFill/>
        </p:spPr>
        <p:txBody>
          <a:bodyPr wrap="none">
            <a:spAutoFit/>
          </a:bodyPr>
          <a:lstStyle/>
          <a:p>
            <a:pPr algn="r">
              <a:defRPr sz="1000">
                <a:solidFill>
                  <a:srgbClr val="99AABB"/>
                </a:solidFill>
              </a:defRPr>
            </a:pPr>
            <a:r>
              <a:t>13/14</a:t>
            </a:r>
          </a:p>
        </p:txBody>
      </p:sp>
      <p:sp>
        <p:nvSpPr>
          <p:cNvPr id="6" name="Rounded Rectangle 5"/>
          <p:cNvSpPr/>
          <p:nvPr/>
        </p:nvSpPr>
        <p:spPr>
          <a:xfrm>
            <a:off x="731520" y="1920240"/>
            <a:ext cx="5029200" cy="4572000"/>
          </a:xfrm>
          <a:prstGeom prst="roundRect">
            <a:avLst/>
          </a:prstGeom>
          <a:solidFill>
            <a:srgbClr val="132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057400"/>
            <a:ext cx="4572000" cy="365760"/>
          </a:xfrm>
          <a:prstGeom prst="rect">
            <a:avLst/>
          </a:prstGeom>
          <a:noFill/>
        </p:spPr>
        <p:txBody>
          <a:bodyPr wrap="square">
            <a:spAutoFit/>
          </a:bodyPr>
          <a:lstStyle/>
          <a:p>
            <a:pPr algn="ctr">
              <a:lnSpc>
                <a:spcPts val="1920"/>
              </a:lnSpc>
              <a:defRPr sz="1600" b="1">
                <a:solidFill>
                  <a:srgbClr val="E8A838"/>
                </a:solidFill>
                <a:latin typeface="Calibri"/>
              </a:defRPr>
            </a:pPr>
            <a:r>
              <a:t>Theoretical Contributions</a:t>
            </a:r>
          </a:p>
        </p:txBody>
      </p:sp>
      <p:sp>
        <p:nvSpPr>
          <p:cNvPr id="8" name="Rectangle 7"/>
          <p:cNvSpPr/>
          <p:nvPr/>
        </p:nvSpPr>
        <p:spPr>
          <a:xfrm>
            <a:off x="1371600" y="2560320"/>
            <a:ext cx="3657600" cy="1828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697480"/>
            <a:ext cx="4480560" cy="3474720"/>
          </a:xfrm>
          <a:prstGeom prst="rect">
            <a:avLst/>
          </a:prstGeom>
          <a:noFill/>
        </p:spPr>
        <p:txBody>
          <a:bodyPr wrap="square">
            <a:spAutoFit/>
          </a:bodyPr>
          <a:lstStyle/>
          <a:p>
            <a:pPr algn="l">
              <a:lnSpc>
                <a:spcPts val="1375"/>
              </a:lnSpc>
              <a:spcAft>
                <a:spcPts val="300"/>
              </a:spcAft>
              <a:defRPr sz="1100" b="0">
                <a:solidFill>
                  <a:srgbClr val="CCDDEE"/>
                </a:solidFill>
                <a:latin typeface="Calibri"/>
              </a:defRPr>
            </a:pPr>
            <a:r>
              <a:t>•  Positions AI as a structural determinant of risk management effectiveness, not just a peripheral tool</a:t>
            </a:r>
          </a:p>
          <a:p>
            <a:pPr algn="l">
              <a:lnSpc>
                <a:spcPts val="1375"/>
              </a:lnSpc>
              <a:spcAft>
                <a:spcPts val="300"/>
              </a:spcAft>
              <a:defRPr sz="1100" b="0">
                <a:solidFill>
                  <a:srgbClr val="CCDDEE"/>
                </a:solidFill>
                <a:latin typeface="Calibri"/>
              </a:defRPr>
            </a:pPr>
            <a:r>
              <a:t>•  </a:t>
            </a:r>
          </a:p>
          <a:p>
            <a:pPr algn="l">
              <a:lnSpc>
                <a:spcPts val="1375"/>
              </a:lnSpc>
              <a:spcAft>
                <a:spcPts val="300"/>
              </a:spcAft>
              <a:defRPr sz="1100" b="0">
                <a:solidFill>
                  <a:srgbClr val="CCDDEE"/>
                </a:solidFill>
                <a:latin typeface="Calibri"/>
              </a:defRPr>
            </a:pPr>
            <a:r>
              <a:t>•  Advances hybrid project management research through integrated SEM-based empirical validation</a:t>
            </a:r>
          </a:p>
          <a:p>
            <a:pPr algn="l">
              <a:lnSpc>
                <a:spcPts val="1375"/>
              </a:lnSpc>
              <a:spcAft>
                <a:spcPts val="300"/>
              </a:spcAft>
              <a:defRPr sz="1100" b="0">
                <a:solidFill>
                  <a:srgbClr val="CCDDEE"/>
                </a:solidFill>
                <a:latin typeface="Calibri"/>
              </a:defRPr>
            </a:pPr>
            <a:r>
              <a:t>•  </a:t>
            </a:r>
          </a:p>
          <a:p>
            <a:pPr algn="l">
              <a:lnSpc>
                <a:spcPts val="1375"/>
              </a:lnSpc>
              <a:spcAft>
                <a:spcPts val="300"/>
              </a:spcAft>
              <a:defRPr sz="1100" b="0">
                <a:solidFill>
                  <a:srgbClr val="CCDDEE"/>
                </a:solidFill>
                <a:latin typeface="Calibri"/>
              </a:defRPr>
            </a:pPr>
            <a:r>
              <a:t>•  Bridges governance theory and dynamic capability theory in the hybrid project domain</a:t>
            </a:r>
          </a:p>
          <a:p>
            <a:pPr algn="l">
              <a:lnSpc>
                <a:spcPts val="1375"/>
              </a:lnSpc>
              <a:spcAft>
                <a:spcPts val="300"/>
              </a:spcAft>
              <a:defRPr sz="1100" b="0">
                <a:solidFill>
                  <a:srgbClr val="CCDDEE"/>
                </a:solidFill>
                <a:latin typeface="Calibri"/>
              </a:defRPr>
            </a:pPr>
            <a:r>
              <a:t>•  </a:t>
            </a:r>
          </a:p>
          <a:p>
            <a:pPr algn="l">
              <a:lnSpc>
                <a:spcPts val="1375"/>
              </a:lnSpc>
              <a:spcAft>
                <a:spcPts val="300"/>
              </a:spcAft>
              <a:defRPr sz="1100" b="0">
                <a:solidFill>
                  <a:srgbClr val="CCDDEE"/>
                </a:solidFill>
                <a:latin typeface="Calibri"/>
              </a:defRPr>
            </a:pPr>
            <a:r>
              <a:t>•  Demonstrates AI capability as complementary to governance structures, not a replacement for them</a:t>
            </a:r>
          </a:p>
        </p:txBody>
      </p:sp>
      <p:sp>
        <p:nvSpPr>
          <p:cNvPr id="10" name="Rounded Rectangle 9"/>
          <p:cNvSpPr/>
          <p:nvPr/>
        </p:nvSpPr>
        <p:spPr>
          <a:xfrm>
            <a:off x="6309360" y="1920240"/>
            <a:ext cx="5029200" cy="4572000"/>
          </a:xfrm>
          <a:prstGeom prst="roundRect">
            <a:avLst/>
          </a:prstGeom>
          <a:solidFill>
            <a:srgbClr val="1B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2057400"/>
            <a:ext cx="4572000" cy="365760"/>
          </a:xfrm>
          <a:prstGeom prst="rect">
            <a:avLst/>
          </a:prstGeom>
          <a:noFill/>
        </p:spPr>
        <p:txBody>
          <a:bodyPr wrap="square">
            <a:spAutoFit/>
          </a:bodyPr>
          <a:lstStyle/>
          <a:p>
            <a:pPr algn="ctr">
              <a:lnSpc>
                <a:spcPts val="1920"/>
              </a:lnSpc>
              <a:defRPr sz="1600" b="1">
                <a:solidFill>
                  <a:srgbClr val="E8A838"/>
                </a:solidFill>
                <a:latin typeface="Calibri"/>
              </a:defRPr>
            </a:pPr>
            <a:r>
              <a:t>Practical Recommendations</a:t>
            </a:r>
          </a:p>
        </p:txBody>
      </p:sp>
      <p:sp>
        <p:nvSpPr>
          <p:cNvPr id="12" name="Rectangle 11"/>
          <p:cNvSpPr/>
          <p:nvPr/>
        </p:nvSpPr>
        <p:spPr>
          <a:xfrm>
            <a:off x="6858000" y="2560320"/>
            <a:ext cx="3657600" cy="1828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0" y="2697480"/>
            <a:ext cx="4480560" cy="3474720"/>
          </a:xfrm>
          <a:prstGeom prst="rect">
            <a:avLst/>
          </a:prstGeom>
          <a:noFill/>
        </p:spPr>
        <p:txBody>
          <a:bodyPr wrap="square">
            <a:spAutoFit/>
          </a:bodyPr>
          <a:lstStyle/>
          <a:p>
            <a:pPr algn="l">
              <a:lnSpc>
                <a:spcPts val="1375"/>
              </a:lnSpc>
              <a:spcAft>
                <a:spcPts val="300"/>
              </a:spcAft>
              <a:defRPr sz="1100" b="0">
                <a:solidFill>
                  <a:srgbClr val="DDEEFF"/>
                </a:solidFill>
                <a:latin typeface="Calibri"/>
              </a:defRPr>
            </a:pPr>
            <a:r>
              <a:t>•  Prioritize harmonizing risk processes across Agile and Waterfall components</a:t>
            </a:r>
          </a:p>
          <a:p>
            <a:pPr algn="l">
              <a:lnSpc>
                <a:spcPts val="1375"/>
              </a:lnSpc>
              <a:spcAft>
                <a:spcPts val="300"/>
              </a:spcAft>
              <a:defRPr sz="1100" b="0">
                <a:solidFill>
                  <a:srgbClr val="DDEEFF"/>
                </a:solidFill>
                <a:latin typeface="Calibri"/>
              </a:defRPr>
            </a:pPr>
            <a:r>
              <a:t>•  </a:t>
            </a:r>
          </a:p>
          <a:p>
            <a:pPr algn="l">
              <a:lnSpc>
                <a:spcPts val="1375"/>
              </a:lnSpc>
              <a:spcAft>
                <a:spcPts val="300"/>
              </a:spcAft>
              <a:defRPr sz="1100" b="0">
                <a:solidFill>
                  <a:srgbClr val="DDEEFF"/>
                </a:solidFill>
                <a:latin typeface="Calibri"/>
              </a:defRPr>
            </a:pPr>
            <a:r>
              <a:t>•  Establish consistent governance: clear decision rights, accountability, and escalation pathways</a:t>
            </a:r>
          </a:p>
          <a:p>
            <a:pPr algn="l">
              <a:lnSpc>
                <a:spcPts val="1375"/>
              </a:lnSpc>
              <a:spcAft>
                <a:spcPts val="300"/>
              </a:spcAft>
              <a:defRPr sz="1100" b="0">
                <a:solidFill>
                  <a:srgbClr val="DDEEFF"/>
                </a:solidFill>
                <a:latin typeface="Calibri"/>
              </a:defRPr>
            </a:pPr>
            <a:r>
              <a:t>•  </a:t>
            </a:r>
          </a:p>
          <a:p>
            <a:pPr algn="l">
              <a:lnSpc>
                <a:spcPts val="1375"/>
              </a:lnSpc>
              <a:spcAft>
                <a:spcPts val="300"/>
              </a:spcAft>
              <a:defRPr sz="1100" b="0">
                <a:solidFill>
                  <a:srgbClr val="DDEEFF"/>
                </a:solidFill>
                <a:latin typeface="Calibri"/>
              </a:defRPr>
            </a:pPr>
            <a:r>
              <a:t>•  Invest in AI analytics embedded within governance frameworks — not deployed in isolation</a:t>
            </a:r>
          </a:p>
          <a:p>
            <a:pPr algn="l">
              <a:lnSpc>
                <a:spcPts val="1375"/>
              </a:lnSpc>
              <a:spcAft>
                <a:spcPts val="300"/>
              </a:spcAft>
              <a:defRPr sz="1100" b="0">
                <a:solidFill>
                  <a:srgbClr val="DDEEFF"/>
                </a:solidFill>
                <a:latin typeface="Calibri"/>
              </a:defRPr>
            </a:pPr>
            <a:r>
              <a:t>•  </a:t>
            </a:r>
          </a:p>
          <a:p>
            <a:pPr algn="l">
              <a:lnSpc>
                <a:spcPts val="1375"/>
              </a:lnSpc>
              <a:spcAft>
                <a:spcPts val="300"/>
              </a:spcAft>
              <a:defRPr sz="1100" b="0">
                <a:solidFill>
                  <a:srgbClr val="DDEEFF"/>
                </a:solidFill>
                <a:latin typeface="Calibri"/>
              </a:defRPr>
            </a:pPr>
            <a:r>
              <a:t>•  Train managers to interpret and act on AI-generated insights for strategic decisions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D3A"/>
        </a:solidFill>
        <a:effectLst/>
      </p:bgPr>
    </p:bg>
    <p:spTree>
      <p:nvGrpSpPr>
        <p:cNvPr id="1" name=""/>
        <p:cNvGrpSpPr/>
        <p:nvPr/>
      </p:nvGrpSpPr>
      <p:grpSpPr>
        <a:xfrm>
          <a:off x="0" y="0"/>
          <a:ext cx="0" cy="0"/>
          <a:chOff x="0" y="0"/>
          <a:chExt cx="0" cy="0"/>
        </a:xfrm>
      </p:grpSpPr>
      <p:sp>
        <p:nvSpPr>
          <p:cNvPr id="2" name="Rectangle 1"/>
          <p:cNvSpPr/>
          <p:nvPr/>
        </p:nvSpPr>
        <p:spPr>
          <a:xfrm>
            <a:off x="731520" y="640080"/>
            <a:ext cx="2286000" cy="5029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777240"/>
            <a:ext cx="9144000" cy="640080"/>
          </a:xfrm>
          <a:prstGeom prst="rect">
            <a:avLst/>
          </a:prstGeom>
          <a:noFill/>
        </p:spPr>
        <p:txBody>
          <a:bodyPr wrap="square">
            <a:spAutoFit/>
          </a:bodyPr>
          <a:lstStyle/>
          <a:p>
            <a:pPr algn="l">
              <a:lnSpc>
                <a:spcPts val="3600"/>
              </a:lnSpc>
              <a:defRPr sz="3000" b="1">
                <a:solidFill>
                  <a:srgbClr val="E8A838"/>
                </a:solidFill>
                <a:latin typeface="Calibri"/>
              </a:defRPr>
            </a:pPr>
            <a:r>
              <a:t>Conclusion, Limitations &amp; Future Research</a:t>
            </a:r>
          </a:p>
        </p:txBody>
      </p:sp>
      <p:sp>
        <p:nvSpPr>
          <p:cNvPr id="4" name="Rectangle 3"/>
          <p:cNvSpPr/>
          <p:nvPr/>
        </p:nvSpPr>
        <p:spPr>
          <a:xfrm>
            <a:off x="0" y="6784848"/>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47120" y="6446520"/>
            <a:ext cx="731520" cy="320040"/>
          </a:xfrm>
          <a:prstGeom prst="rect">
            <a:avLst/>
          </a:prstGeom>
          <a:noFill/>
        </p:spPr>
        <p:txBody>
          <a:bodyPr wrap="none">
            <a:spAutoFit/>
          </a:bodyPr>
          <a:lstStyle/>
          <a:p>
            <a:pPr algn="r">
              <a:defRPr sz="1000">
                <a:solidFill>
                  <a:srgbClr val="99AABB"/>
                </a:solidFill>
              </a:defRPr>
            </a:pPr>
            <a:r>
              <a:t>14/14</a:t>
            </a:r>
          </a:p>
        </p:txBody>
      </p:sp>
      <p:sp>
        <p:nvSpPr>
          <p:cNvPr id="6" name="Rounded Rectangle 5"/>
          <p:cNvSpPr/>
          <p:nvPr/>
        </p:nvSpPr>
        <p:spPr>
          <a:xfrm>
            <a:off x="731520" y="1828800"/>
            <a:ext cx="10698480" cy="1097280"/>
          </a:xfrm>
          <a:prstGeom prst="roundRect">
            <a:avLst/>
          </a:prstGeom>
          <a:solidFill>
            <a:srgbClr val="1B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920240"/>
            <a:ext cx="10332720" cy="822960"/>
          </a:xfrm>
          <a:prstGeom prst="rect">
            <a:avLst/>
          </a:prstGeom>
          <a:noFill/>
        </p:spPr>
        <p:txBody>
          <a:bodyPr wrap="square">
            <a:spAutoFit/>
          </a:bodyPr>
          <a:lstStyle/>
          <a:p>
            <a:pPr algn="ctr">
              <a:lnSpc>
                <a:spcPts val="1680"/>
              </a:lnSpc>
              <a:defRPr sz="1400" b="1">
                <a:solidFill>
                  <a:srgbClr val="FFFFFF"/>
                </a:solidFill>
                <a:latin typeface="Calibri"/>
              </a:defRPr>
            </a:pPr>
            <a:r>
              <a:t>Effective risk management in hybrid projects requires integrated structural alignment,</a:t>
            </a:r>
            <a:br/>
            <a:r>
              <a:t>governance stability, and AI-driven analytical intelligence — not isolated practices or technologies.</a:t>
            </a:r>
          </a:p>
        </p:txBody>
      </p:sp>
      <p:sp>
        <p:nvSpPr>
          <p:cNvPr id="8" name="Oval 7"/>
          <p:cNvSpPr/>
          <p:nvPr/>
        </p:nvSpPr>
        <p:spPr>
          <a:xfrm>
            <a:off x="1783080" y="3154680"/>
            <a:ext cx="502920" cy="502920"/>
          </a:xfrm>
          <a:prstGeom prst="ellipse">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0B1D3A"/>
                </a:solidFill>
                <a:latin typeface="Calibri"/>
              </a:defRPr>
            </a:pPr>
            <a:r>
              <a:t>①</a:t>
            </a:r>
          </a:p>
        </p:txBody>
      </p:sp>
      <p:sp>
        <p:nvSpPr>
          <p:cNvPr id="9" name="TextBox 8"/>
          <p:cNvSpPr txBox="1"/>
          <p:nvPr/>
        </p:nvSpPr>
        <p:spPr>
          <a:xfrm>
            <a:off x="731520" y="3794760"/>
            <a:ext cx="3383280" cy="457200"/>
          </a:xfrm>
          <a:prstGeom prst="rect">
            <a:avLst/>
          </a:prstGeom>
          <a:noFill/>
        </p:spPr>
        <p:txBody>
          <a:bodyPr wrap="square">
            <a:spAutoFit/>
          </a:bodyPr>
          <a:lstStyle/>
          <a:p>
            <a:pPr algn="ctr">
              <a:lnSpc>
                <a:spcPts val="1439"/>
              </a:lnSpc>
              <a:defRPr sz="1200" b="1">
                <a:solidFill>
                  <a:srgbClr val="E8A838"/>
                </a:solidFill>
                <a:latin typeface="Calibri"/>
              </a:defRPr>
            </a:pPr>
            <a:r>
              <a:t>Governance + Process</a:t>
            </a:r>
            <a:br/>
            <a:r>
              <a:t>Alignment</a:t>
            </a:r>
          </a:p>
        </p:txBody>
      </p:sp>
      <p:sp>
        <p:nvSpPr>
          <p:cNvPr id="10" name="TextBox 9"/>
          <p:cNvSpPr txBox="1"/>
          <p:nvPr/>
        </p:nvSpPr>
        <p:spPr>
          <a:xfrm>
            <a:off x="731520" y="4251960"/>
            <a:ext cx="3383280" cy="548640"/>
          </a:xfrm>
          <a:prstGeom prst="rect">
            <a:avLst/>
          </a:prstGeom>
          <a:noFill/>
        </p:spPr>
        <p:txBody>
          <a:bodyPr wrap="square">
            <a:spAutoFit/>
          </a:bodyPr>
          <a:lstStyle/>
          <a:p>
            <a:pPr algn="ctr">
              <a:lnSpc>
                <a:spcPts val="1200"/>
              </a:lnSpc>
              <a:defRPr sz="1000" b="0">
                <a:solidFill>
                  <a:srgbClr val="CCDDEE"/>
                </a:solidFill>
                <a:latin typeface="Calibri"/>
              </a:defRPr>
            </a:pPr>
            <a:r>
              <a:t>Structural coherence is the foundation for effective risk governance.</a:t>
            </a:r>
          </a:p>
        </p:txBody>
      </p:sp>
      <p:sp>
        <p:nvSpPr>
          <p:cNvPr id="11" name="Oval 10"/>
          <p:cNvSpPr/>
          <p:nvPr/>
        </p:nvSpPr>
        <p:spPr>
          <a:xfrm>
            <a:off x="5440679" y="3154680"/>
            <a:ext cx="502920" cy="502920"/>
          </a:xfrm>
          <a:prstGeom prst="ellipse">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0B1D3A"/>
                </a:solidFill>
                <a:latin typeface="Calibri"/>
              </a:defRPr>
            </a:pPr>
            <a:r>
              <a:t>②</a:t>
            </a:r>
          </a:p>
        </p:txBody>
      </p:sp>
      <p:sp>
        <p:nvSpPr>
          <p:cNvPr id="12" name="TextBox 11"/>
          <p:cNvSpPr txBox="1"/>
          <p:nvPr/>
        </p:nvSpPr>
        <p:spPr>
          <a:xfrm>
            <a:off x="4389120" y="3794760"/>
            <a:ext cx="3383280" cy="457200"/>
          </a:xfrm>
          <a:prstGeom prst="rect">
            <a:avLst/>
          </a:prstGeom>
          <a:noFill/>
        </p:spPr>
        <p:txBody>
          <a:bodyPr wrap="square">
            <a:spAutoFit/>
          </a:bodyPr>
          <a:lstStyle/>
          <a:p>
            <a:pPr algn="ctr">
              <a:lnSpc>
                <a:spcPts val="1439"/>
              </a:lnSpc>
              <a:defRPr sz="1200" b="1">
                <a:solidFill>
                  <a:srgbClr val="E8A838"/>
                </a:solidFill>
                <a:latin typeface="Calibri"/>
              </a:defRPr>
            </a:pPr>
            <a:r>
              <a:t>AI as Strategic</a:t>
            </a:r>
            <a:br/>
            <a:r>
              <a:t>Enabler</a:t>
            </a:r>
          </a:p>
        </p:txBody>
      </p:sp>
      <p:sp>
        <p:nvSpPr>
          <p:cNvPr id="13" name="TextBox 12"/>
          <p:cNvSpPr txBox="1"/>
          <p:nvPr/>
        </p:nvSpPr>
        <p:spPr>
          <a:xfrm>
            <a:off x="4389120" y="4251960"/>
            <a:ext cx="3383280" cy="548640"/>
          </a:xfrm>
          <a:prstGeom prst="rect">
            <a:avLst/>
          </a:prstGeom>
          <a:noFill/>
        </p:spPr>
        <p:txBody>
          <a:bodyPr wrap="square">
            <a:spAutoFit/>
          </a:bodyPr>
          <a:lstStyle/>
          <a:p>
            <a:pPr algn="ctr">
              <a:lnSpc>
                <a:spcPts val="1200"/>
              </a:lnSpc>
              <a:defRPr sz="1000" b="0">
                <a:solidFill>
                  <a:srgbClr val="CCDDEE"/>
                </a:solidFill>
                <a:latin typeface="Calibri"/>
              </a:defRPr>
            </a:pPr>
            <a:r>
              <a:t>Strongest predictor — enhances foresight and amplifies governance.</a:t>
            </a:r>
          </a:p>
        </p:txBody>
      </p:sp>
      <p:sp>
        <p:nvSpPr>
          <p:cNvPr id="14" name="Oval 13"/>
          <p:cNvSpPr/>
          <p:nvPr/>
        </p:nvSpPr>
        <p:spPr>
          <a:xfrm>
            <a:off x="9098280" y="3154680"/>
            <a:ext cx="502920" cy="502920"/>
          </a:xfrm>
          <a:prstGeom prst="ellipse">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0B1D3A"/>
                </a:solidFill>
                <a:latin typeface="Calibri"/>
              </a:defRPr>
            </a:pPr>
            <a:r>
              <a:t>③</a:t>
            </a:r>
          </a:p>
        </p:txBody>
      </p:sp>
      <p:sp>
        <p:nvSpPr>
          <p:cNvPr id="15" name="TextBox 14"/>
          <p:cNvSpPr txBox="1"/>
          <p:nvPr/>
        </p:nvSpPr>
        <p:spPr>
          <a:xfrm>
            <a:off x="8046720" y="3794760"/>
            <a:ext cx="3383280" cy="457200"/>
          </a:xfrm>
          <a:prstGeom prst="rect">
            <a:avLst/>
          </a:prstGeom>
          <a:noFill/>
        </p:spPr>
        <p:txBody>
          <a:bodyPr wrap="square">
            <a:spAutoFit/>
          </a:bodyPr>
          <a:lstStyle/>
          <a:p>
            <a:pPr algn="ctr">
              <a:lnSpc>
                <a:spcPts val="1439"/>
              </a:lnSpc>
              <a:defRPr sz="1200" b="1">
                <a:solidFill>
                  <a:srgbClr val="E8A838"/>
                </a:solidFill>
                <a:latin typeface="Calibri"/>
              </a:defRPr>
            </a:pPr>
            <a:r>
              <a:t>Beyond Visibility</a:t>
            </a:r>
            <a:br/>
            <a:r>
              <a:t>&amp; Speed</a:t>
            </a:r>
          </a:p>
        </p:txBody>
      </p:sp>
      <p:sp>
        <p:nvSpPr>
          <p:cNvPr id="16" name="TextBox 15"/>
          <p:cNvSpPr txBox="1"/>
          <p:nvPr/>
        </p:nvSpPr>
        <p:spPr>
          <a:xfrm>
            <a:off x="8046720" y="4251960"/>
            <a:ext cx="3383280" cy="548640"/>
          </a:xfrm>
          <a:prstGeom prst="rect">
            <a:avLst/>
          </a:prstGeom>
          <a:noFill/>
        </p:spPr>
        <p:txBody>
          <a:bodyPr wrap="square">
            <a:spAutoFit/>
          </a:bodyPr>
          <a:lstStyle/>
          <a:p>
            <a:pPr algn="ctr">
              <a:lnSpc>
                <a:spcPts val="1200"/>
              </a:lnSpc>
              <a:defRPr sz="1000" b="0">
                <a:solidFill>
                  <a:srgbClr val="CCDDEE"/>
                </a:solidFill>
                <a:latin typeface="Calibri"/>
              </a:defRPr>
            </a:pPr>
            <a:r>
              <a:t>Decision quality and governance clarity matter more than information volume.</a:t>
            </a:r>
          </a:p>
        </p:txBody>
      </p:sp>
      <p:sp>
        <p:nvSpPr>
          <p:cNvPr id="17" name="Rounded Rectangle 16"/>
          <p:cNvSpPr/>
          <p:nvPr/>
        </p:nvSpPr>
        <p:spPr>
          <a:xfrm>
            <a:off x="731520" y="4983480"/>
            <a:ext cx="5029200" cy="1371600"/>
          </a:xfrm>
          <a:prstGeom prst="roundRect">
            <a:avLst/>
          </a:prstGeom>
          <a:solidFill>
            <a:srgbClr val="132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5029200"/>
            <a:ext cx="2743200" cy="274320"/>
          </a:xfrm>
          <a:prstGeom prst="rect">
            <a:avLst/>
          </a:prstGeom>
          <a:noFill/>
        </p:spPr>
        <p:txBody>
          <a:bodyPr wrap="square">
            <a:spAutoFit/>
          </a:bodyPr>
          <a:lstStyle/>
          <a:p>
            <a:pPr algn="l">
              <a:lnSpc>
                <a:spcPts val="1439"/>
              </a:lnSpc>
              <a:defRPr sz="1200" b="1">
                <a:solidFill>
                  <a:srgbClr val="E8A838"/>
                </a:solidFill>
                <a:latin typeface="Calibri"/>
              </a:defRPr>
            </a:pPr>
            <a:r>
              <a:t>Limitations</a:t>
            </a:r>
          </a:p>
        </p:txBody>
      </p:sp>
      <p:sp>
        <p:nvSpPr>
          <p:cNvPr id="19" name="TextBox 18"/>
          <p:cNvSpPr txBox="1"/>
          <p:nvPr/>
        </p:nvSpPr>
        <p:spPr>
          <a:xfrm>
            <a:off x="914400" y="5349240"/>
            <a:ext cx="4572000" cy="914400"/>
          </a:xfrm>
          <a:prstGeom prst="rect">
            <a:avLst/>
          </a:prstGeom>
          <a:noFill/>
        </p:spPr>
        <p:txBody>
          <a:bodyPr wrap="square">
            <a:spAutoFit/>
          </a:bodyPr>
          <a:lstStyle/>
          <a:p>
            <a:pPr algn="l">
              <a:lnSpc>
                <a:spcPts val="1140"/>
              </a:lnSpc>
              <a:spcAft>
                <a:spcPts val="300"/>
              </a:spcAft>
              <a:defRPr sz="950" b="0">
                <a:solidFill>
                  <a:srgbClr val="CCDDEE"/>
                </a:solidFill>
                <a:latin typeface="Calibri"/>
              </a:defRPr>
            </a:pPr>
            <a:r>
              <a:t>•  Cross-sectional design limits causal inference</a:t>
            </a:r>
          </a:p>
          <a:p>
            <a:pPr algn="l">
              <a:lnSpc>
                <a:spcPts val="1140"/>
              </a:lnSpc>
              <a:spcAft>
                <a:spcPts val="300"/>
              </a:spcAft>
              <a:defRPr sz="950" b="0">
                <a:solidFill>
                  <a:srgbClr val="CCDDEE"/>
                </a:solidFill>
                <a:latin typeface="Calibri"/>
              </a:defRPr>
            </a:pPr>
            <a:r>
              <a:t>•  India-focused sample — may limit generalizability</a:t>
            </a:r>
          </a:p>
          <a:p>
            <a:pPr algn="l">
              <a:lnSpc>
                <a:spcPts val="1140"/>
              </a:lnSpc>
              <a:spcAft>
                <a:spcPts val="300"/>
              </a:spcAft>
              <a:defRPr sz="950" b="0">
                <a:solidFill>
                  <a:srgbClr val="CCDDEE"/>
                </a:solidFill>
                <a:latin typeface="Calibri"/>
              </a:defRPr>
            </a:pPr>
            <a:r>
              <a:t>•  Self-reported data — potential response bias</a:t>
            </a:r>
          </a:p>
        </p:txBody>
      </p:sp>
      <p:sp>
        <p:nvSpPr>
          <p:cNvPr id="20" name="Rounded Rectangle 19"/>
          <p:cNvSpPr/>
          <p:nvPr/>
        </p:nvSpPr>
        <p:spPr>
          <a:xfrm>
            <a:off x="6309360" y="4983480"/>
            <a:ext cx="5029200" cy="1371600"/>
          </a:xfrm>
          <a:prstGeom prst="roundRect">
            <a:avLst/>
          </a:prstGeom>
          <a:solidFill>
            <a:srgbClr val="132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92240" y="5029200"/>
            <a:ext cx="3200400" cy="274320"/>
          </a:xfrm>
          <a:prstGeom prst="rect">
            <a:avLst/>
          </a:prstGeom>
          <a:noFill/>
        </p:spPr>
        <p:txBody>
          <a:bodyPr wrap="square">
            <a:spAutoFit/>
          </a:bodyPr>
          <a:lstStyle/>
          <a:p>
            <a:pPr algn="l">
              <a:lnSpc>
                <a:spcPts val="1439"/>
              </a:lnSpc>
              <a:defRPr sz="1200" b="1">
                <a:solidFill>
                  <a:srgbClr val="E8A838"/>
                </a:solidFill>
                <a:latin typeface="Calibri"/>
              </a:defRPr>
            </a:pPr>
            <a:r>
              <a:t>Future Research</a:t>
            </a:r>
          </a:p>
        </p:txBody>
      </p:sp>
      <p:sp>
        <p:nvSpPr>
          <p:cNvPr id="22" name="TextBox 21"/>
          <p:cNvSpPr txBox="1"/>
          <p:nvPr/>
        </p:nvSpPr>
        <p:spPr>
          <a:xfrm>
            <a:off x="6492240" y="5349240"/>
            <a:ext cx="4572000" cy="914400"/>
          </a:xfrm>
          <a:prstGeom prst="rect">
            <a:avLst/>
          </a:prstGeom>
          <a:noFill/>
        </p:spPr>
        <p:txBody>
          <a:bodyPr wrap="square">
            <a:spAutoFit/>
          </a:bodyPr>
          <a:lstStyle/>
          <a:p>
            <a:pPr algn="l">
              <a:lnSpc>
                <a:spcPts val="1140"/>
              </a:lnSpc>
              <a:spcAft>
                <a:spcPts val="300"/>
              </a:spcAft>
              <a:defRPr sz="950" b="0">
                <a:solidFill>
                  <a:srgbClr val="CCDDEE"/>
                </a:solidFill>
                <a:latin typeface="Calibri"/>
              </a:defRPr>
            </a:pPr>
            <a:r>
              <a:t>•  Longitudinal studies across project phases</a:t>
            </a:r>
          </a:p>
          <a:p>
            <a:pPr algn="l">
              <a:lnSpc>
                <a:spcPts val="1140"/>
              </a:lnSpc>
              <a:spcAft>
                <a:spcPts val="300"/>
              </a:spcAft>
              <a:defRPr sz="950" b="0">
                <a:solidFill>
                  <a:srgbClr val="CCDDEE"/>
                </a:solidFill>
                <a:latin typeface="Calibri"/>
              </a:defRPr>
            </a:pPr>
            <a:r>
              <a:t>•  Cross-cultural replication in other regions</a:t>
            </a:r>
          </a:p>
          <a:p>
            <a:pPr algn="l">
              <a:lnSpc>
                <a:spcPts val="1140"/>
              </a:lnSpc>
              <a:spcAft>
                <a:spcPts val="300"/>
              </a:spcAft>
              <a:defRPr sz="950" b="0">
                <a:solidFill>
                  <a:srgbClr val="CCDDEE"/>
                </a:solidFill>
                <a:latin typeface="Calibri"/>
              </a:defRPr>
            </a:pPr>
            <a:r>
              <a:t>•  Mediating roles of culture &amp; project complexity</a:t>
            </a:r>
          </a:p>
        </p:txBody>
      </p:sp>
      <p:sp>
        <p:nvSpPr>
          <p:cNvPr id="23" name="Rounded Rectangle 22"/>
          <p:cNvSpPr/>
          <p:nvPr/>
        </p:nvSpPr>
        <p:spPr>
          <a:xfrm>
            <a:off x="3200400" y="6400800"/>
            <a:ext cx="5760720" cy="320040"/>
          </a:xfrm>
          <a:prstGeom prst="roundRect">
            <a:avLst/>
          </a:prstGeom>
          <a:solidFill>
            <a:srgbClr val="E8A83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B1D3A"/>
                </a:solidFill>
                <a:latin typeface="Calibri"/>
              </a:defRPr>
            </a:pPr>
            <a:r>
              <a:t>Thank You  —  Questions &amp; Discussion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1309</Words>
  <Application>Microsoft Office PowerPoint</Application>
  <PresentationFormat>Widescreen</PresentationFormat>
  <Paragraphs>225</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HEMANTH APPALA</cp:lastModifiedBy>
  <cp:revision>2</cp:revision>
  <dcterms:created xsi:type="dcterms:W3CDTF">2013-01-27T09:14:16Z</dcterms:created>
  <dcterms:modified xsi:type="dcterms:W3CDTF">2026-03-03T01:18:50Z</dcterms:modified>
  <cp:category/>
</cp:coreProperties>
</file>