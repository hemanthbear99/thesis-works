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Enhancing Risk Management Effectiveness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Hybrid Projects through AI-Driven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defRPr sz="3600" b="1">
                <a:solidFill>
                  <a:srgbClr val="E8A838"/>
                </a:solidFill>
                <a:latin typeface="Calibri Light"/>
              </a:defRPr>
            </a:pPr>
            <a:r>
              <a:t>Strategic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5BA0D9"/>
                </a:solidFill>
                <a:latin typeface="Calibri"/>
              </a:defRPr>
            </a:pPr>
            <a:r>
              <a:t>A Structural Equation Modelling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3657600" cy="274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99AABB"/>
                </a:solidFill>
                <a:latin typeface="Calibri"/>
              </a:defRPr>
            </a:pPr>
            <a:r>
              <a:t>Based on primary data from 384 project professionals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99AABB"/>
                </a:solidFill>
                <a:latin typeface="Calibri"/>
              </a:defRPr>
            </a:pPr>
            <a:r>
              <a:t>Methodology: Structural Equation Modelling (SEM) | SPSS &amp; AMOS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488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Introduction &amp; Background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210312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1488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Research Objectives &amp; Questions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210312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Conceptual Framework &amp; Hypotheses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11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56616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611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Demographics &amp; Sample Profile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0" y="3566160"/>
            <a:ext cx="457200" cy="45720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61187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Measurement Model &amp; Validity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SEM Results (H1 – H5)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0" y="502920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Discussion &amp; Implications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5029200"/>
            <a:ext cx="457200" cy="45720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B1D3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Conclusion &amp; Future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Introduction &amp;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spcAft>
                <a:spcPts val="400"/>
              </a:spcAft>
              <a:defRPr sz="1300" b="1">
                <a:solidFill>
                  <a:srgbClr val="E8A838"/>
                </a:solidFill>
                <a:latin typeface="Calibri"/>
              </a:defRPr>
            </a:pPr>
            <a:r>
              <a:t>The Problem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Traditional risk management relies on static registers,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periodic assessments, and subjective expert judgment.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755"/>
              </a:lnSpc>
              <a:spcAft>
                <a:spcPts val="400"/>
              </a:spcAft>
              <a:defRPr sz="1300" b="1">
                <a:solidFill>
                  <a:srgbClr val="E8A838"/>
                </a:solidFill>
                <a:latin typeface="Calibri"/>
              </a:defRPr>
            </a:pPr>
            <a:r>
              <a:t>Hybrid Project Complexity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Agile + Waterfall integration creates fragmented governance,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inconsistent risk documentation, and ambiguous escalation.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755"/>
              </a:lnSpc>
              <a:spcAft>
                <a:spcPts val="400"/>
              </a:spcAft>
              <a:defRPr sz="1300" b="1">
                <a:solidFill>
                  <a:srgbClr val="E8A838"/>
                </a:solidFill>
                <a:latin typeface="Calibri"/>
              </a:defRPr>
            </a:pPr>
            <a:r>
              <a:t>The AI Opportunity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AI enables predictive analytics, real-time monitoring,</a:t>
            </a:r>
          </a:p>
          <a:p>
            <a:pPr algn="l">
              <a:lnSpc>
                <a:spcPts val="1755"/>
              </a:lnSpc>
              <a:spcAft>
                <a:spcPts val="400"/>
              </a:spcAft>
              <a:defRPr sz="1300" b="0">
                <a:solidFill>
                  <a:srgbClr val="CCDDEE"/>
                </a:solidFill>
                <a:latin typeface="Calibri"/>
              </a:defRPr>
            </a:pPr>
            <a:r>
              <a:t>and data-driven decision support for risk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103120"/>
            <a:ext cx="4846320" cy="109728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Most IT projects fail to meet original objectives</a:t>
            </a:r>
            <a:br/>
            <a:r>
              <a:t>(Standish Group, 2020)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474720"/>
            <a:ext cx="4846320" cy="109728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Traditional methods struggle with dynamic,</a:t>
            </a:r>
            <a:br/>
            <a:r>
              <a:t>data-intensive environments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846320"/>
            <a:ext cx="4846320" cy="109728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AI: Machine Learning + NLP + Deep Learning</a:t>
            </a:r>
            <a:br/>
            <a:r>
              <a:t>enable continuous risk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Research Objectives &amp;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0B1D3A"/>
                </a:solidFill>
                <a:latin typeface="Calibri"/>
              </a:defRPr>
            </a:pPr>
            <a:r>
              <a:t>RO1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756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Examine the impact of Risk Process Alignment on</a:t>
            </a:r>
            <a:br/>
            <a:r>
              <a:t>Risk Management Effectiveness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900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Analyze the influence of Risk Visibility Integration</a:t>
            </a:r>
            <a:br/>
            <a:r>
              <a:t>on Risk Management Effectiveness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0B1D3A"/>
                </a:solidFill>
                <a:latin typeface="Calibri"/>
              </a:defRPr>
            </a:pPr>
            <a:r>
              <a:t>RO3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9044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Assess the effect of Timely Risk Escalation on</a:t>
            </a:r>
            <a:br/>
            <a:r>
              <a:t>Risk Management Effectiveness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RO4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188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Evaluate the role of Governance Consistency in</a:t>
            </a:r>
            <a:br/>
            <a:r>
              <a:t>enhancing Risk Management Effectiveness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669280"/>
            <a:ext cx="502920" cy="50292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0B1D3A"/>
                </a:solidFill>
                <a:latin typeface="Calibri"/>
              </a:defRPr>
            </a:pPr>
            <a:r>
              <a:t>RO5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7332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Examine the impact of AI-Driven Risk Analytics</a:t>
            </a:r>
            <a:br/>
            <a:r>
              <a:t>Capability on Risk Management Effectiveness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Conceptual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Integrated Model of AI-Driven Strategic Risk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ceptu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86868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Research Hypotheses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94360" cy="64008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08483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0">
                <a:solidFill>
                  <a:srgbClr val="CCDDEE"/>
                </a:solidFill>
                <a:latin typeface="Calibri"/>
              </a:defRPr>
            </a:pPr>
            <a:r>
              <a:t>Risk Process Alignment has a significant positive impact on</a:t>
            </a:r>
            <a:br/>
            <a:r>
              <a:t>Risk Management Effectiveness in Hybrid Project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594360" cy="640080"/>
          </a:xfrm>
          <a:prstGeom prst="roundRect">
            <a:avLst/>
          </a:prstGeom>
          <a:solidFill>
            <a:srgbClr val="3A7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95351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0">
                <a:solidFill>
                  <a:srgbClr val="CCDDEE"/>
                </a:solidFill>
                <a:latin typeface="Calibri"/>
              </a:defRPr>
            </a:pPr>
            <a:r>
              <a:t>Risk Visibility Integration has a significant positive impact on</a:t>
            </a:r>
            <a:br/>
            <a:r>
              <a:t>Risk Management Effectiveness in Hybrid Project Environments.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94360" cy="640080"/>
          </a:xfrm>
          <a:prstGeom prst="roundRect">
            <a:avLst/>
          </a:prstGeom>
          <a:solidFill>
            <a:srgbClr val="5BA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822191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0">
                <a:solidFill>
                  <a:srgbClr val="CCDDEE"/>
                </a:solidFill>
                <a:latin typeface="Calibri"/>
              </a:defRPr>
            </a:pPr>
            <a:r>
              <a:t>Timely Risk Escalation has a significant positive impact on</a:t>
            </a:r>
            <a:br/>
            <a:r>
              <a:t>Risk Management Effectiveness in Hybrid Project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594360" cy="64008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6908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0">
                <a:solidFill>
                  <a:srgbClr val="CCDDEE"/>
                </a:solidFill>
                <a:latin typeface="Calibri"/>
              </a:defRPr>
            </a:pPr>
            <a:r>
              <a:t>Governance Consistency has a significant positive impact on</a:t>
            </a:r>
            <a:br/>
            <a:r>
              <a:t>Risk Management Effectiveness in Hybrid Project Environments.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594360" cy="64008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55955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0">
                <a:solidFill>
                  <a:srgbClr val="CCDDEE"/>
                </a:solidFill>
                <a:latin typeface="Calibri"/>
              </a:defRPr>
            </a:pPr>
            <a:r>
              <a:t>AI-Driven Risk Analytics Capability has a significant positive</a:t>
            </a:r>
            <a:br/>
            <a:r>
              <a:t>impact on Risk Management Effectiveness in Hybrid Project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Research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164592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Research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Quantitative,</a:t>
            </a:r>
            <a:br/>
            <a:r>
              <a:t>cross-sectional</a:t>
            </a:r>
            <a:br/>
            <a:r>
              <a:t>survey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468880" cy="164592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Sample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697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384 project</a:t>
            </a:r>
            <a:br/>
            <a:r>
              <a:t>professionals</a:t>
            </a:r>
            <a:br/>
            <a:r>
              <a:t>across industries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468880" cy="16459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Structured</a:t>
            </a:r>
            <a:br/>
            <a:r>
              <a:t>questionnaire</a:t>
            </a:r>
            <a:br/>
            <a:r>
              <a:t>(5-point Likert)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468880" cy="164592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240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Analysis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69748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SPSS + AMOS</a:t>
            </a:r>
            <a:br/>
            <a:r>
              <a:t>for CFA and</a:t>
            </a:r>
            <a:br/>
            <a:r>
              <a:t>SEM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600" b="1">
                <a:solidFill>
                  <a:srgbClr val="E8A838"/>
                </a:solidFill>
                <a:latin typeface="Calibri"/>
              </a:defRPr>
            </a:pPr>
            <a:r>
              <a:t>Statistical Techniques Applied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•  Confirmatory Factor Analysis (CFA) for measurement model validation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•  Structural Equation Modelling (SEM) for hypothesis testing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•  Cronbach's Alpha, AVE, and Composite Reliability for construct validity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•  KMO and Bartlett's Test for sampling adequacy (KMO = 0.927)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CCDDEE"/>
                </a:solidFill>
                <a:latin typeface="Calibri"/>
              </a:defRPr>
            </a:pPr>
            <a:r>
              <a:t>•  Discriminant Validity via Fornell-Larcker Criterion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Sample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N = 384 Project Professionals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ender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3840480" cy="3108960"/>
          </a:xfrm>
          <a:prstGeom prst="rect">
            <a:avLst/>
          </a:prstGeom>
        </p:spPr>
      </p:pic>
      <p:pic>
        <p:nvPicPr>
          <p:cNvPr id="7" name="Picture 6" descr="ag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28800"/>
            <a:ext cx="4114800" cy="2926080"/>
          </a:xfrm>
          <a:prstGeom prst="rect">
            <a:avLst/>
          </a:prstGeom>
        </p:spPr>
      </p:pic>
      <p:pic>
        <p:nvPicPr>
          <p:cNvPr id="8" name="Picture 7" descr="exp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297680"/>
            <a:ext cx="4114800" cy="2286000"/>
          </a:xfrm>
          <a:prstGeom prst="rect">
            <a:avLst/>
          </a:prstGeom>
        </p:spPr>
      </p:pic>
      <p:pic>
        <p:nvPicPr>
          <p:cNvPr id="9" name="Picture 8" descr="role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297680"/>
            <a:ext cx="4114800" cy="2286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86800" y="2103120"/>
            <a:ext cx="3017520" cy="91440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77%+ have over</a:t>
            </a:r>
            <a:br/>
            <a:r>
              <a:t>5 years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291840"/>
            <a:ext cx="3017520" cy="9144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53.9% Female</a:t>
            </a:r>
            <a:br/>
            <a:r>
              <a:t>46.1% Male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4480560"/>
            <a:ext cx="3017520" cy="9144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27.6% Hold</a:t>
            </a:r>
            <a:br/>
            <a:r>
              <a:t>Professional Certifications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5669280"/>
            <a:ext cx="3017520" cy="73152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Balanced role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Methodology &amp; AI Adoption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thodology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029200" cy="4114800"/>
          </a:xfrm>
          <a:prstGeom prst="rect">
            <a:avLst/>
          </a:prstGeom>
        </p:spPr>
      </p:pic>
      <p:pic>
        <p:nvPicPr>
          <p:cNvPr id="6" name="Picture 5" descr="ai_usage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50292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0">
                <a:solidFill>
                  <a:srgbClr val="99AABB"/>
                </a:solidFill>
                <a:latin typeface="Calibri"/>
              </a:defRPr>
            </a:pPr>
            <a:r>
              <a:t>Even distribution across methodologies ensures balanced insights | AI adoption is progressing but not yet universal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Descriptive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Mean Scores on 5-point Likert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criptive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4008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2103120"/>
            <a:ext cx="4389120" cy="41148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2860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Key Observations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  <a:r>
              <a:t>Governance Consistency and AI-Driven Risk Analytics score highest (3.70, 3.67)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  <a:r>
              <a:t>Risk Management Effectiveness has the lowest mean (3.46), suggesting uneven translation of practices into outcomes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  <a:r>
              <a:t>All skewness values within ±2 and kurtosis within ±3 → data is suitable for SEM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BBCCDD"/>
                </a:solidFill>
                <a:latin typeface="Calibri"/>
              </a:defRPr>
            </a:pPr>
          </a:p>
          <a:p>
            <a:pPr algn="l">
              <a:lnSpc>
                <a:spcPts val="1430"/>
              </a:lnSpc>
              <a:spcAft>
                <a:spcPts val="400"/>
              </a:spcAft>
              <a:defRPr sz="1100" b="1">
                <a:solidFill>
                  <a:srgbClr val="88DD88"/>
                </a:solidFill>
                <a:latin typeface="Calibri"/>
              </a:defRPr>
            </a:pPr>
            <a:r>
              <a:t>All constructs show moderately high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Measurement Model &amp;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v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59436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828800"/>
            <a:ext cx="5029200" cy="45720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500" b="1">
                <a:solidFill>
                  <a:srgbClr val="E8A838"/>
                </a:solidFill>
                <a:latin typeface="Calibri"/>
              </a:defRPr>
            </a:pPr>
            <a:r>
              <a:t>Convergent Validity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E8A838"/>
                </a:solidFill>
                <a:latin typeface="Calibri"/>
              </a:defRPr>
            </a:pPr>
            <a:r>
              <a:t>Construct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E8A838"/>
                </a:solidFill>
                <a:latin typeface="Calibri"/>
              </a:defRPr>
            </a:pPr>
            <a:r>
              <a:t>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468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E8A838"/>
                </a:solidFill>
                <a:latin typeface="Calibri"/>
              </a:defRPr>
            </a:pPr>
            <a:r>
              <a:t>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Process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880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0.761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8803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Visibility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291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291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703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Timely Risk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Governance 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0.757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114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526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AI-Driven Risk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526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0.787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4526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Risk Mgmt Effectiveness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937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4937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Calibri"/>
              </a:defRPr>
            </a:pPr>
            <a:r>
              <a:t>0.852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486400"/>
            <a:ext cx="4572000" cy="64008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KMO = 0.927 (Excellent Sampling Adequacy)</a:t>
            </a:r>
            <a:br/>
            <a:r>
              <a:t>Bartlett's Test: χ² = 7618.445, p &lt; 0.001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669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1">
                <a:solidFill>
                  <a:srgbClr val="88DD88"/>
                </a:solidFill>
                <a:latin typeface="Calibri"/>
              </a:defRPr>
            </a:pPr>
            <a:r>
              <a:t>All AVE &gt; 0.5 and CR &gt; 0.7 confirm convergent validity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Hypothesis 1 –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Risk Process Alignment → Risk Management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1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2011680"/>
            <a:ext cx="5303520" cy="43891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Result: H1 Supported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β = 0.464 | C.R. = 7.346 | p &lt; 0.001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Model Fit: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CMIN/DF = 2.366 | GFI = 0.958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CFI = 0.976 | RMSEA = 0.060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Risk Process Alignment shows a moderate and meaningful positive relationship with RME.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When risk processes are aligned across Agile &amp; Waterfall, organizations experience improved coordination and reduced ambiguity.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Hypothesis 2 –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Risk Visibility Integration → Risk Management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2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2011680"/>
            <a:ext cx="5303520" cy="43891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Result: H2 Supported (Marginal Effect)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β = 0.121 | C.R. = 2.116 | p = 0.034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Model Fit: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CMIN/DF = 1.376 | CFI = 0.994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RMSEA = 0.031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While statistically significant, the effect size is modest.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Risk visibility alone is insufficient — it functions as a supportive mechanism rather than a dominant driver when governance structures are weak.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Hypothesis 3 –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Timely Risk Escalation → Risk Management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3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2011680"/>
            <a:ext cx="5303520" cy="43891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Result: H3 Supported (Modest Effect)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β = 0.129 | C.R. = 2.283 | p = 0.022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Model Fit: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CMIN/DF = 1.326 | CFI = 0.995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RMSEA = 0.029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Statistically significant but modest direct effect.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Agile teams manage risks locally, reducing the need for frequent formal escalation. Effectiveness depends on appropriateness, not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Hypothesis 4 –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Governance Consistency → Risk Management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4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2011680"/>
            <a:ext cx="5303520" cy="43891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Result: H4 Supported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β = 0.397 | C.R. = 6.869 | p &lt; 0.001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Model Fit: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CMIN/DF = 1.716 | CFI = 0.985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RMSEA = 0.043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Governance Consistency is a structural backbone that stabilizes risk management across diverse execution approaches.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Uniform governance reduces ambiguity in authority, accountability, and decision-making in hybrid settings.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Hypothesis 5 –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AI-Driven Risk Analytics Capability → Risk Management Effectiveness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5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4864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2011680"/>
            <a:ext cx="5303520" cy="43891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27AE60"/>
                </a:solidFill>
                <a:latin typeface="Calibri"/>
              </a:defRPr>
            </a:pPr>
            <a:r>
              <a:t>Result: H5 Supported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β = 0.449 | C.R. = 7.697 | p &lt; 0.001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Model Fit: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CMIN/DF = 1.995 | CFI = 0.982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RMSEA = 0.051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1">
                <a:solidFill>
                  <a:srgbClr val="E8A838"/>
                </a:solidFill>
                <a:latin typeface="Calibri"/>
              </a:defRPr>
            </a:pPr>
            <a:r>
              <a:t>Interpretation: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AI-Driven Risk Analytics is one of the STRONGEST predictors of RME.</a:t>
            </a: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</a:p>
          <a:p>
            <a:pPr algn="l">
              <a:lnSpc>
                <a:spcPts val="1375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AI enhances predictive foresight, anomaly detection, real-time monitoring, and automated risk prioritization in hybrid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Summary of Hypothesis 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ypothesi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685800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2011680"/>
            <a:ext cx="4206240" cy="45720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194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Hypothesis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BBCCDD"/>
                </a:solidFill>
                <a:latin typeface="Calibri"/>
              </a:defRPr>
            </a:pPr>
            <a:r>
              <a:t>RPA → 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743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FFFFF"/>
                </a:solidFill>
                <a:latin typeface="Calibri"/>
              </a:defRPr>
            </a:pPr>
            <a:r>
              <a:t>β=0.464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27AE60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BBCCDD"/>
                </a:solidFill>
                <a:latin typeface="Calibri"/>
              </a:defRPr>
            </a:pPr>
            <a:r>
              <a:t>RVI → 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429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FFFFF"/>
                </a:solidFill>
                <a:latin typeface="Calibri"/>
              </a:defRPr>
            </a:pPr>
            <a:r>
              <a:t>β=0.121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39C12"/>
                </a:solidFill>
                <a:latin typeface="Calibri"/>
              </a:defRPr>
            </a:pPr>
            <a:r>
              <a:t>Marginal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114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BBCCDD"/>
                </a:solidFill>
                <a:latin typeface="Calibri"/>
              </a:defRPr>
            </a:pPr>
            <a:r>
              <a:t>TRE → 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114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FFFFF"/>
                </a:solidFill>
                <a:latin typeface="Calibri"/>
              </a:defRPr>
            </a:pPr>
            <a:r>
              <a:t>β=0.129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39C12"/>
                </a:solidFill>
                <a:latin typeface="Calibri"/>
              </a:defRPr>
            </a:pPr>
            <a:r>
              <a:t>Modest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H4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800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BBCCDD"/>
                </a:solidFill>
                <a:latin typeface="Calibri"/>
              </a:defRPr>
            </a:pPr>
            <a:r>
              <a:t>GC → 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8006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FFFFF"/>
                </a:solidFill>
                <a:latin typeface="Calibri"/>
              </a:defRPr>
            </a:pPr>
            <a:r>
              <a:t>β=0.397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27AE60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H5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BBCCDD"/>
                </a:solidFill>
                <a:latin typeface="Calibri"/>
              </a:defRPr>
            </a:pPr>
            <a:r>
              <a:t>ADRAC → 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5486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FFFFFF"/>
                </a:solidFill>
                <a:latin typeface="Calibri"/>
              </a:defRPr>
            </a:pPr>
            <a:r>
              <a:t>β=0.449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1">
                <a:solidFill>
                  <a:srgbClr val="27AE60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943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E8A838"/>
                </a:solidFill>
                <a:latin typeface="Calibri"/>
              </a:defRPr>
            </a:pPr>
            <a:r>
              <a:t>Strongest: H5 (AI) &gt; H1 (RPA) &gt; H4 (GC)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Model Fit Indices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AABBCC"/>
                </a:solidFill>
                <a:latin typeface="Calibri"/>
              </a:defRPr>
            </a:pPr>
            <a:r>
              <a:t>All models demonstrate good-to-excellent 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2011680"/>
            <a:ext cx="3657600" cy="438912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1">
                <a:solidFill>
                  <a:srgbClr val="E8A838"/>
                </a:solidFill>
                <a:latin typeface="Calibri"/>
              </a:defRPr>
            </a:pPr>
            <a:r>
              <a:t>Acceptance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CMIN/DF &lt; 3.00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GFI ≥ 0.90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NFI ≥ 0.90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CFI ≥ 0.90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IFI ≥ 0.90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RMSEA ≤ 0.08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27AE60"/>
                </a:solidFill>
                <a:latin typeface="Calibri"/>
              </a:defRPr>
            </a:pPr>
            <a:r>
              <a:t>✓  RMR ≤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760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defRPr sz="1100" b="1">
                <a:solidFill>
                  <a:srgbClr val="27AE60"/>
                </a:solidFill>
                <a:latin typeface="Calibri"/>
              </a:defRPr>
            </a:pPr>
            <a:r>
              <a:t>All models meet or</a:t>
            </a:r>
            <a:br/>
            <a:r>
              <a:t>exceed all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Discussion &amp;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83280" cy="411480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Structural Coherence Matters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017520"/>
            <a:ext cx="2468880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defRPr sz="1100" b="0">
                <a:solidFill>
                  <a:srgbClr val="DDEEFF"/>
                </a:solidFill>
                <a:latin typeface="Calibri"/>
              </a:defRPr>
            </a:pPr>
            <a:r>
              <a:t>Governance Consistency and Risk Process Alignment are foundational. Effective risk management requires deliberate integration across Agile and Waterfall governance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383280" cy="41148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AI as Strategic 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3017520"/>
            <a:ext cx="2468880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defRPr sz="1100" b="0">
                <a:solidFill>
                  <a:srgbClr val="DDEEFF"/>
                </a:solidFill>
                <a:latin typeface="Calibri"/>
              </a:defRPr>
            </a:pPr>
            <a:r>
              <a:t>AI analytics is not merely a technical tool but an organizational capability that enhances predictive foresight and decision quality. It complements and amplifies governance structures.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E8A838"/>
                </a:solidFill>
                <a:latin typeface="Calibri"/>
              </a:defRPr>
            </a:pPr>
            <a:r>
              <a:t>Visibility &amp; Speed Are Insufficient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017520"/>
            <a:ext cx="2468880" cy="182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004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defRPr sz="1100" b="0">
                <a:solidFill>
                  <a:srgbClr val="DDEEFF"/>
                </a:solidFill>
                <a:latin typeface="Calibri"/>
              </a:defRPr>
            </a:pPr>
            <a:r>
              <a:t>Risk visibility and timely escalation are supportive but not dominant drivers. Without strong governance and interpretive capacity, information availability does not improve outcomes.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Theoretical &amp; Practical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E8A838"/>
                </a:solidFill>
                <a:latin typeface="Calibri"/>
              </a:defRPr>
            </a:pPr>
            <a:r>
              <a:t>Theoretical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Extends project risk management theory by positioning AI as a structural determinant, not just a tool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Advances hybrid project management research through SEM-based empirical validation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Bridges governance theory and dynamic capability theory in hybrid project domain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Demonstrates AI capability as complementary to governance, not a replacement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03120"/>
            <a:ext cx="5029200" cy="411480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defRPr sz="1600" b="1">
                <a:solidFill>
                  <a:srgbClr val="E8A838"/>
                </a:solidFill>
                <a:latin typeface="Calibri"/>
              </a:defRPr>
            </a:pPr>
            <a:r>
              <a:t>Practical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Prioritize harmonizing risk processes across Agile and Waterfall components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Establish consistent governance standards: accountability, decision rights, and escalation pathways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Invest in AI analytics embedded within governance frameworks, not standalone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Train managers to interpret and act on AI-generated insights for strategic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20/22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128016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1">
                <a:solidFill>
                  <a:srgbClr val="FFFFFF"/>
                </a:solidFill>
                <a:latin typeface="Calibri"/>
              </a:defRPr>
            </a:pPr>
            <a:r>
              <a:t>Effective risk management in hybrid projects requires integrated structural alignment,</a:t>
            </a:r>
            <a:br/>
            <a:r>
              <a:t>governance stability, and AI-driven analytical intelligence — not isolated practices.</a:t>
            </a:r>
          </a:p>
        </p:txBody>
      </p:sp>
      <p:sp>
        <p:nvSpPr>
          <p:cNvPr id="7" name="Oval 6"/>
          <p:cNvSpPr/>
          <p:nvPr/>
        </p:nvSpPr>
        <p:spPr>
          <a:xfrm>
            <a:off x="1920240" y="3749039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0B1D3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1">
                <a:solidFill>
                  <a:srgbClr val="E8A838"/>
                </a:solidFill>
                <a:latin typeface="Calibri"/>
              </a:defRPr>
            </a:pPr>
            <a:r>
              <a:t>Governance +</a:t>
            </a:r>
            <a:br/>
            <a:r>
              <a:t>Process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defRPr sz="1100" b="0">
                <a:solidFill>
                  <a:srgbClr val="CCDDEE"/>
                </a:solidFill>
                <a:latin typeface="Calibri"/>
              </a:defRPr>
            </a:pPr>
            <a:r>
              <a:t>Structural coherence is the foundation — consistent governance and aligned risk processes drive effectiveness.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3749039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0B1D3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1">
                <a:solidFill>
                  <a:srgbClr val="E8A838"/>
                </a:solidFill>
                <a:latin typeface="Calibri"/>
              </a:defRPr>
            </a:pPr>
            <a:r>
              <a:t>AI as Strategic</a:t>
            </a:r>
            <a:br/>
            <a:r>
              <a:t>Enabler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defRPr sz="1100" b="0">
                <a:solidFill>
                  <a:srgbClr val="CCDDEE"/>
                </a:solidFill>
                <a:latin typeface="Calibri"/>
              </a:defRPr>
            </a:pPr>
            <a:r>
              <a:t>AI capability is one of the strongest predictors — it enhances predictive foresight and amplifies governance.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3749039"/>
            <a:ext cx="640080" cy="640080"/>
          </a:xfrm>
          <a:prstGeom prst="ellipse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800" b="1">
                <a:solidFill>
                  <a:srgbClr val="0B1D3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4526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defRPr sz="1300" b="1">
                <a:solidFill>
                  <a:srgbClr val="E8A838"/>
                </a:solidFill>
                <a:latin typeface="Calibri"/>
              </a:defRPr>
            </a:pPr>
            <a:r>
              <a:t>Beyond Visibility</a:t>
            </a:r>
            <a:br/>
            <a:r>
              <a:t>&amp;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51206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defRPr sz="1100" b="0">
                <a:solidFill>
                  <a:srgbClr val="CCDDEE"/>
                </a:solidFill>
                <a:latin typeface="Calibri"/>
              </a:defRPr>
            </a:pPr>
            <a:r>
              <a:t>Organizations must focus on decision quality and governance clarity, not just information availability.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21/22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defRPr sz="3200" b="1">
                <a:solidFill>
                  <a:srgbClr val="E8A838"/>
                </a:solidFill>
                <a:latin typeface="Calibri"/>
              </a:defRPr>
            </a:pPr>
            <a:r>
              <a:t>Limitations &amp; Future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743200"/>
          </a:xfrm>
          <a:prstGeom prst="roundRect">
            <a:avLst/>
          </a:prstGeom>
          <a:solidFill>
            <a:srgbClr val="132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E8A838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Cross-sectional design limits causal inference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Sample drawn from India may limit generalizability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Self-reported perceptions may introduce response bias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CDDEE"/>
                </a:solidFill>
                <a:latin typeface="Calibri"/>
              </a:defRPr>
            </a:pPr>
            <a:r>
              <a:t>•  Focuses on direct relationships only (no mediation/moderation)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2743200"/>
          </a:xfrm>
          <a:prstGeom prst="round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E8A838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Longitudinal studies across project phases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Cross-cultural replication in different regions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Explore mediating roles of organizational culture and project complexity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•  Examine AI interaction with specific Agile practices (sprints, retrospectives)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303520"/>
            <a:ext cx="6675120" cy="1097280"/>
          </a:xfrm>
          <a:prstGeom prst="round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534924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defRPr sz="3200" b="1">
                <a:solidFill>
                  <a:srgbClr val="0B1D3A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8978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defRPr sz="1400" b="0">
                <a:solidFill>
                  <a:srgbClr val="0B1D3A"/>
                </a:solidFill>
                <a:latin typeface="Calibri"/>
              </a:defRPr>
            </a:pPr>
            <a:r>
              <a:t>Questions &amp; Discussion Welcome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88888"/>
                </a:solidFill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